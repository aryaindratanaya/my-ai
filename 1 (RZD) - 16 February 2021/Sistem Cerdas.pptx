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315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31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44"/>
    <p:sldId id="300" r:id="rId45"/>
    <p:sldId id="301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451A0-2E7B-447F-BE81-D0B16F2399D5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D6269-5520-461D-89C3-C2408E62F36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998BB1-41A3-4441-8198-98C3A87F7587}" type="slidenum">
              <a:rPr lang="ar-SA" altLang="ar-JO"/>
              <a:pPr/>
              <a:t>6</a:t>
            </a:fld>
            <a:endParaRPr lang="en-US" altLang="ar-JO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B77A17-F13D-41E2-939B-DBD68D7082FC}" type="slidenum">
              <a:rPr lang="ar-SA" altLang="ar-JO"/>
              <a:pPr/>
              <a:t>7</a:t>
            </a:fld>
            <a:endParaRPr lang="en-US" altLang="ar-JO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3254C4-E807-45D8-8F1E-272DDA4C1102}" type="slidenum">
              <a:rPr lang="ar-SA" altLang="ar-JO"/>
              <a:pPr/>
              <a:t>8</a:t>
            </a:fld>
            <a:endParaRPr lang="en-US" altLang="ar-JO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69C994-8C57-49CB-AF3A-782AFCF97A40}" type="slidenum">
              <a:rPr lang="ar-SA" altLang="ar-JO"/>
              <a:pPr/>
              <a:t>9</a:t>
            </a:fld>
            <a:endParaRPr lang="en-US" altLang="ar-JO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516556-E1A4-4421-8110-F80D2BF424DF}" type="slidenum">
              <a:rPr lang="ar-SA" altLang="ar-JO"/>
              <a:pPr/>
              <a:t>10</a:t>
            </a:fld>
            <a:endParaRPr lang="en-US" altLang="ar-JO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0B941E-8FB8-4CA4-B75A-DD7AF5A25E4C}" type="slidenum">
              <a:rPr lang="ar-SA" altLang="ar-JO"/>
              <a:pPr/>
              <a:t>15</a:t>
            </a:fld>
            <a:endParaRPr lang="en-US" altLang="ar-JO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35B940-764D-48ED-A5F1-590EC3EAA969}" type="slidenum">
              <a:rPr lang="ar-SA" altLang="ar-JO"/>
              <a:pPr/>
              <a:t>16</a:t>
            </a:fld>
            <a:endParaRPr lang="en-US" altLang="ar-JO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6DCBE3-8292-4FA1-8AC5-B87C2454E877}" type="slidenum">
              <a:rPr lang="ar-SA" altLang="ar-JO"/>
              <a:pPr/>
              <a:t>17</a:t>
            </a:fld>
            <a:endParaRPr lang="en-US" altLang="ar-JO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20E8B9-72DF-47EB-9604-3BABA0934859}" type="slidenum">
              <a:rPr lang="ar-SA" altLang="ar-JO"/>
              <a:pPr/>
              <a:t>18</a:t>
            </a:fld>
            <a:endParaRPr lang="en-US" altLang="ar-JO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EBA217-44D5-4727-9538-CB47F6FBFB8B}" type="slidenum">
              <a:rPr lang="ar-SA" altLang="ar-JO"/>
              <a:pPr/>
              <a:t>19</a:t>
            </a:fld>
            <a:endParaRPr lang="en-US" altLang="ar-JO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99DF5E-BBC7-4504-8C68-876E3D8DFC34}" type="slidenum">
              <a:rPr lang="ar-SA" altLang="ar-JO"/>
              <a:pPr/>
              <a:t>20</a:t>
            </a:fld>
            <a:endParaRPr lang="en-US" altLang="ar-JO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018386-A3AD-40BC-BBC7-366F721A2A6F}" type="slidenum">
              <a:rPr lang="ar-SA" altLang="ar-JO"/>
              <a:pPr/>
              <a:t>33</a:t>
            </a:fld>
            <a:endParaRPr lang="en-US" altLang="ar-JO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ECCB73-4EA0-4040-A9C8-5029B7B5CC57}" type="slidenum">
              <a:rPr lang="ar-SA" altLang="ar-JO"/>
              <a:pPr/>
              <a:t>36</a:t>
            </a:fld>
            <a:endParaRPr lang="en-US" altLang="ar-JO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1C733E-E002-4EFB-A481-2E0071B06A89}" type="slidenum">
              <a:rPr lang="ar-SA" altLang="ar-JO"/>
              <a:pPr/>
              <a:t>37</a:t>
            </a:fld>
            <a:endParaRPr lang="en-US" altLang="ar-JO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3B81BE-C1B4-40C1-B76A-4E34B4D924FB}" type="slidenum">
              <a:rPr lang="ar-SA" altLang="ar-JO"/>
              <a:pPr/>
              <a:t>39</a:t>
            </a:fld>
            <a:endParaRPr lang="en-US" altLang="ar-JO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877B17-8492-4A04-B8F6-64C6AD9D371A}" type="slidenum">
              <a:rPr lang="ar-SA" altLang="ar-JO"/>
              <a:pPr/>
              <a:t>40</a:t>
            </a:fld>
            <a:endParaRPr lang="en-US" altLang="ar-JO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AAA974-A2B3-4CAE-877A-25C45AB35CB5}" type="slidenum">
              <a:rPr lang="ar-SA" altLang="ar-JO"/>
              <a:pPr/>
              <a:t>41</a:t>
            </a:fld>
            <a:endParaRPr lang="en-US" altLang="ar-JO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CD8E3B-9AA2-4E35-8FD1-E98CE73EA0EF}" type="slidenum">
              <a:rPr lang="ar-SA" altLang="ar-JO"/>
              <a:pPr/>
              <a:t>42</a:t>
            </a:fld>
            <a:endParaRPr lang="en-US" altLang="ar-JO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5D86A5-4B13-4EDD-97C3-D927BDD5C6FF}" type="slidenum">
              <a:rPr lang="ar-SA" altLang="ar-JO"/>
              <a:pPr/>
              <a:t>43</a:t>
            </a:fld>
            <a:endParaRPr lang="en-US" altLang="ar-JO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7ADBF9-10D6-452F-BCEA-9D6C843E3055}" type="slidenum">
              <a:rPr lang="ar-SA" altLang="ar-JO"/>
              <a:pPr/>
              <a:t>44</a:t>
            </a:fld>
            <a:endParaRPr lang="en-US" altLang="ar-JO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333653-202B-409B-AF58-05DD8A73C256}" type="slidenum">
              <a:rPr lang="ar-SA" altLang="ar-JO"/>
              <a:pPr/>
              <a:t>45</a:t>
            </a:fld>
            <a:endParaRPr lang="en-US" altLang="ar-JO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ar-JO" altLang="ar-JO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عنوان، ونص، واثنان من 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6" name="عنصر نائب للتاريخ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عنصر نائب للتذييل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عنصر نائب لرقم الشريحة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65110C1-55E9-48BC-9F1C-2BD25814EC88}" type="slidenum">
              <a:rPr lang="ar-SA" altLang="ar-JO"/>
              <a:pPr/>
              <a:t>‹#›</a:t>
            </a:fld>
            <a:endParaRPr lang="en-US" altLang="ar-JO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عنوان، ونص،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ABD526D-7AAF-4E46-A980-B040E6792199}" type="slidenum">
              <a:rPr lang="ar-SA" altLang="ar-JO"/>
              <a:pPr/>
              <a:t>‹#›</a:t>
            </a:fld>
            <a:endParaRPr lang="en-US" altLang="ar-J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ACF79-81A2-48AD-8B4E-6BEEA6058D27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19397-606D-4B3D-BD82-6EE4D83FD88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rizkia@telkomuniversity.ac.i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1.bin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5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9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3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Cerdas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>Artificial Intelligence</a:t>
            </a:r>
            <a:endParaRPr lang="en-US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Rizki</a:t>
            </a:r>
            <a:r>
              <a:rPr lang="en-US" dirty="0" smtClean="0"/>
              <a:t> </a:t>
            </a:r>
            <a:r>
              <a:rPr lang="en-US" dirty="0" err="1" smtClean="0"/>
              <a:t>Ardianto</a:t>
            </a:r>
            <a:r>
              <a:rPr lang="en-US" dirty="0" smtClean="0"/>
              <a:t> </a:t>
            </a:r>
            <a:r>
              <a:rPr lang="en-US" dirty="0" err="1" smtClean="0"/>
              <a:t>Priramadhi</a:t>
            </a:r>
            <a:endParaRPr lang="en-US" dirty="0" smtClean="0"/>
          </a:p>
          <a:p>
            <a:pPr lvl="1"/>
            <a:r>
              <a:rPr lang="en-US" dirty="0" smtClean="0"/>
              <a:t>Electronics ITB (‘98-’03)</a:t>
            </a:r>
          </a:p>
          <a:p>
            <a:pPr lvl="1"/>
            <a:r>
              <a:rPr lang="en-US" dirty="0" smtClean="0"/>
              <a:t>Microelectronic ITB (‘04-’07)</a:t>
            </a:r>
          </a:p>
          <a:p>
            <a:pPr lvl="1"/>
            <a:r>
              <a:rPr lang="en-US" dirty="0" smtClean="0"/>
              <a:t>Doctoral ITB (’11-’17)</a:t>
            </a:r>
          </a:p>
          <a:p>
            <a:r>
              <a:rPr lang="en-US" dirty="0" smtClean="0"/>
              <a:t>Contact : Room N312, +62-812211191, </a:t>
            </a:r>
            <a:r>
              <a:rPr lang="en-US" dirty="0" smtClean="0">
                <a:hlinkClick r:id="rId2"/>
              </a:rPr>
              <a:t>rizkia@telkomuniversity.ac.id</a:t>
            </a:r>
            <a:r>
              <a:rPr lang="en-US" dirty="0" smtClean="0"/>
              <a:t>, </a:t>
            </a:r>
            <a:r>
              <a:rPr lang="en-US" dirty="0" err="1" smtClean="0"/>
              <a:t>rizki.ap@gmail</a:t>
            </a:r>
            <a:endParaRPr lang="en-US" dirty="0" smtClean="0"/>
          </a:p>
          <a:p>
            <a:r>
              <a:rPr lang="en-US" dirty="0" smtClean="0"/>
              <a:t>Book : </a:t>
            </a:r>
          </a:p>
          <a:p>
            <a:pPr lvl="1"/>
            <a:r>
              <a:rPr lang="en-US" dirty="0" smtClean="0"/>
              <a:t>Artificial Intelligence A Modern Approach (3</a:t>
            </a:r>
            <a:r>
              <a:rPr lang="en-US" baseline="30000" dirty="0" smtClean="0"/>
              <a:t>rd</a:t>
            </a:r>
            <a:r>
              <a:rPr lang="en-US" dirty="0" smtClean="0"/>
              <a:t> Ed.), Russell-</a:t>
            </a:r>
            <a:r>
              <a:rPr lang="en-US" dirty="0" err="1" smtClean="0"/>
              <a:t>Norvig</a:t>
            </a:r>
            <a:r>
              <a:rPr lang="en-US" dirty="0" smtClean="0"/>
              <a:t>, Prentice Hall, 2010.pdf</a:t>
            </a:r>
          </a:p>
          <a:p>
            <a:pPr lvl="1"/>
            <a:r>
              <a:rPr lang="en-US" dirty="0" smtClean="0"/>
              <a:t>http://rizkia.staff.telkomuniversity.ac.id/pustaka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100≥ A &gt;90≥ AB &gt;80≥ B &gt;70≥ BC &gt;60≥ C &gt;50 ≥ </a:t>
            </a:r>
            <a:r>
              <a:rPr lang="en-US" sz="2400" dirty="0" err="1" smtClean="0"/>
              <a:t>tdk</a:t>
            </a:r>
            <a:r>
              <a:rPr lang="en-US" sz="2400" dirty="0" smtClean="0"/>
              <a:t> lulus</a:t>
            </a:r>
          </a:p>
          <a:p>
            <a:r>
              <a:rPr lang="en-US" sz="2400" dirty="0" err="1" smtClean="0"/>
              <a:t>Tugas</a:t>
            </a:r>
            <a:r>
              <a:rPr lang="en-US" sz="2400" dirty="0" smtClean="0"/>
              <a:t> : </a:t>
            </a:r>
            <a:r>
              <a:rPr lang="en-US" sz="2400" dirty="0" smtClean="0"/>
              <a:t>30 %</a:t>
            </a:r>
            <a:endParaRPr lang="en-US" sz="2400" dirty="0" smtClean="0"/>
          </a:p>
          <a:p>
            <a:r>
              <a:rPr lang="en-US" sz="2400" dirty="0" smtClean="0"/>
              <a:t>UTS : </a:t>
            </a:r>
            <a:r>
              <a:rPr lang="en-US" sz="2400" dirty="0" smtClean="0"/>
              <a:t>35 %</a:t>
            </a:r>
            <a:endParaRPr lang="en-US" sz="2400" dirty="0" smtClean="0"/>
          </a:p>
          <a:p>
            <a:r>
              <a:rPr lang="en-US" sz="2400" dirty="0" smtClean="0"/>
              <a:t>UAS : </a:t>
            </a:r>
            <a:r>
              <a:rPr lang="en-US" sz="2400" dirty="0" smtClean="0"/>
              <a:t>35 %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err="1" smtClean="0"/>
              <a:t>Proyek</a:t>
            </a:r>
            <a:r>
              <a:rPr lang="en-US" sz="2400" dirty="0" smtClean="0"/>
              <a:t>, </a:t>
            </a:r>
            <a:r>
              <a:rPr lang="en-US" sz="2400" dirty="0" err="1" smtClean="0"/>
              <a:t>membuat</a:t>
            </a:r>
            <a:r>
              <a:rPr lang="en-US" sz="2400" dirty="0" smtClean="0"/>
              <a:t>  </a:t>
            </a:r>
            <a:r>
              <a:rPr lang="en-US" sz="2400" dirty="0" err="1" smtClean="0"/>
              <a:t>implementasi</a:t>
            </a:r>
            <a:r>
              <a:rPr lang="en-US" sz="2400" dirty="0" smtClean="0"/>
              <a:t> AI:</a:t>
            </a:r>
          </a:p>
          <a:p>
            <a:pPr lvl="1"/>
            <a:r>
              <a:rPr lang="en-US" sz="2000" dirty="0" err="1" smtClean="0"/>
              <a:t>Sistem</a:t>
            </a:r>
            <a:r>
              <a:rPr lang="en-US" sz="2000" dirty="0" smtClean="0"/>
              <a:t> hardware</a:t>
            </a:r>
          </a:p>
          <a:p>
            <a:pPr lvl="1"/>
            <a:r>
              <a:rPr lang="en-US" sz="2000" dirty="0" err="1" smtClean="0"/>
              <a:t>Tulisan</a:t>
            </a:r>
            <a:r>
              <a:rPr lang="en-US" sz="2000" dirty="0" smtClean="0"/>
              <a:t> </a:t>
            </a:r>
            <a:r>
              <a:rPr lang="en-US" sz="2000" dirty="0" err="1" smtClean="0"/>
              <a:t>Ilmiah</a:t>
            </a:r>
            <a:endParaRPr lang="en-US" sz="2000" dirty="0" smtClean="0"/>
          </a:p>
          <a:p>
            <a:pPr lvl="1"/>
            <a:r>
              <a:rPr lang="en-US" sz="2000" dirty="0" err="1" smtClean="0"/>
              <a:t>Youtube</a:t>
            </a:r>
            <a:r>
              <a:rPr lang="en-US" sz="2000" dirty="0" smtClean="0"/>
              <a:t> </a:t>
            </a:r>
          </a:p>
          <a:p>
            <a:r>
              <a:rPr lang="en-US" sz="2400" dirty="0" smtClean="0"/>
              <a:t>Coding </a:t>
            </a:r>
            <a:r>
              <a:rPr lang="en-US" sz="2400" dirty="0" err="1" smtClean="0"/>
              <a:t>menggunakan</a:t>
            </a:r>
            <a:r>
              <a:rPr lang="en-US" sz="2400" dirty="0" smtClean="0"/>
              <a:t>: Google-</a:t>
            </a:r>
            <a:r>
              <a:rPr lang="en-US" sz="2400" dirty="0" err="1" smtClean="0"/>
              <a:t>Colab</a:t>
            </a:r>
            <a:r>
              <a:rPr lang="en-US" sz="2400" dirty="0" smtClean="0"/>
              <a:t> , Ms. </a:t>
            </a:r>
            <a:r>
              <a:rPr lang="en-US" sz="2400" smtClean="0"/>
              <a:t>Excel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Artificial Intelligence : definition, measure, type</a:t>
            </a:r>
          </a:p>
          <a:p>
            <a:r>
              <a:rPr lang="en-US" sz="2400" dirty="0" smtClean="0"/>
              <a:t>Expert System</a:t>
            </a:r>
          </a:p>
          <a:p>
            <a:r>
              <a:rPr lang="en-US" sz="2400" dirty="0" smtClean="0"/>
              <a:t>Search </a:t>
            </a:r>
            <a:r>
              <a:rPr lang="en-US" sz="2400" dirty="0" err="1" smtClean="0"/>
              <a:t>Algoritm</a:t>
            </a:r>
            <a:r>
              <a:rPr lang="en-US" sz="2400" dirty="0" smtClean="0"/>
              <a:t> : Breadth-first, depth-first</a:t>
            </a:r>
          </a:p>
          <a:p>
            <a:r>
              <a:rPr lang="en-US" sz="2400" dirty="0" smtClean="0"/>
              <a:t>Path Algorithm : </a:t>
            </a:r>
            <a:r>
              <a:rPr lang="en-US" sz="2400" dirty="0" err="1" smtClean="0"/>
              <a:t>Djikstra</a:t>
            </a:r>
            <a:r>
              <a:rPr lang="en-US" sz="2400" dirty="0" smtClean="0"/>
              <a:t>, Heuristic, A-star</a:t>
            </a:r>
          </a:p>
          <a:p>
            <a:r>
              <a:rPr lang="en-US" sz="2400" dirty="0" smtClean="0"/>
              <a:t>Fuzzy Logic/System</a:t>
            </a:r>
          </a:p>
          <a:p>
            <a:r>
              <a:rPr lang="en-US" sz="2400" dirty="0" smtClean="0"/>
              <a:t>Evolutionary Computation</a:t>
            </a:r>
          </a:p>
          <a:p>
            <a:pPr lvl="1"/>
            <a:r>
              <a:rPr lang="en-US" sz="2000" dirty="0" smtClean="0"/>
              <a:t>Multi-Agent System</a:t>
            </a:r>
          </a:p>
          <a:p>
            <a:pPr lvl="1"/>
            <a:r>
              <a:rPr lang="en-US" sz="2000" dirty="0" smtClean="0"/>
              <a:t>Meta-Heuristic or Swarm Intelligence</a:t>
            </a:r>
          </a:p>
          <a:p>
            <a:pPr lvl="2"/>
            <a:r>
              <a:rPr lang="en-US" sz="1600" dirty="0" smtClean="0"/>
              <a:t>Ant Colony Optimization</a:t>
            </a:r>
          </a:p>
          <a:p>
            <a:pPr lvl="2"/>
            <a:r>
              <a:rPr lang="en-US" sz="1600" dirty="0" smtClean="0"/>
              <a:t>Particle Swarm Optimization</a:t>
            </a:r>
          </a:p>
          <a:p>
            <a:pPr lvl="1"/>
            <a:r>
              <a:rPr lang="en-US" sz="2000" dirty="0" smtClean="0"/>
              <a:t>Genetic Algorithm</a:t>
            </a:r>
          </a:p>
          <a:p>
            <a:r>
              <a:rPr lang="en-US" sz="2400" dirty="0" smtClean="0"/>
              <a:t>Machine Learning</a:t>
            </a:r>
          </a:p>
          <a:p>
            <a:pPr lvl="1"/>
            <a:r>
              <a:rPr lang="en-US" sz="2000" dirty="0" smtClean="0"/>
              <a:t>Neural Network</a:t>
            </a:r>
          </a:p>
          <a:p>
            <a:pPr lvl="1"/>
            <a:r>
              <a:rPr lang="en-US" sz="2000" dirty="0" smtClean="0"/>
              <a:t>Support Vector Machine</a:t>
            </a:r>
          </a:p>
          <a:p>
            <a:pPr lvl="1"/>
            <a:r>
              <a:rPr lang="en-US" sz="2000" dirty="0" smtClean="0"/>
              <a:t>Deep Learning</a:t>
            </a:r>
          </a:p>
          <a:p>
            <a:r>
              <a:rPr lang="en-US" sz="2400" b="1" i="1" dirty="0" smtClean="0"/>
              <a:t>Collective (Artificial) Intelligence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877175" cy="1462087"/>
          </a:xfrm>
        </p:spPr>
        <p:txBody>
          <a:bodyPr/>
          <a:lstStyle/>
          <a:p>
            <a:pPr eaLnBrk="1" hangingPunct="1"/>
            <a:r>
              <a:rPr lang="en-US" altLang="ar-JO" dirty="0" smtClean="0">
                <a:latin typeface="Times New Roman" pitchFamily="18" charset="0"/>
              </a:rPr>
              <a:t>Areas of AI and Some Dependencies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974725" y="2546350"/>
            <a:ext cx="1082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ar-JO" altLang="ar-JO" sz="1800">
              <a:latin typeface="Tahoma" pitchFamily="34" charset="0"/>
            </a:endParaRP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914400" y="2209800"/>
            <a:ext cx="12192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Search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2895600" y="5562600"/>
            <a:ext cx="11430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Vision</a:t>
            </a: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4876800" y="3810000"/>
            <a:ext cx="15240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Planning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2286000" y="3581400"/>
            <a:ext cx="1524000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Machine Learning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5715000" y="1905000"/>
            <a:ext cx="2362200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Knowledge Representation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3505200" y="2209800"/>
            <a:ext cx="10668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Logic</a:t>
            </a:r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6858000" y="5257800"/>
            <a:ext cx="1524000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Expert Systems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4572000" y="5562600"/>
            <a:ext cx="16002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Robotics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914400" y="5562600"/>
            <a:ext cx="9906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NLP</a:t>
            </a:r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>
            <a:off x="1371600" y="2743200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>
            <a:off x="2133600" y="2514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>
            <a:off x="2133600" y="2743200"/>
            <a:ext cx="2743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>
            <a:off x="1752600" y="27432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69" name="Freeform 17"/>
          <p:cNvSpPr>
            <a:spLocks/>
          </p:cNvSpPr>
          <p:nvPr/>
        </p:nvSpPr>
        <p:spPr bwMode="auto">
          <a:xfrm>
            <a:off x="2133600" y="1831975"/>
            <a:ext cx="3505200" cy="377825"/>
          </a:xfrm>
          <a:custGeom>
            <a:avLst/>
            <a:gdLst>
              <a:gd name="T0" fmla="*/ 0 w 2208"/>
              <a:gd name="T1" fmla="*/ 377825 h 238"/>
              <a:gd name="T2" fmla="*/ 1698625 w 2208"/>
              <a:gd name="T3" fmla="*/ 25400 h 238"/>
              <a:gd name="T4" fmla="*/ 3505200 w 2208"/>
              <a:gd name="T5" fmla="*/ 225425 h 238"/>
              <a:gd name="T6" fmla="*/ 0 60000 65536"/>
              <a:gd name="T7" fmla="*/ 0 60000 65536"/>
              <a:gd name="T8" fmla="*/ 0 60000 65536"/>
              <a:gd name="T9" fmla="*/ 0 w 2208"/>
              <a:gd name="T10" fmla="*/ 0 h 238"/>
              <a:gd name="T11" fmla="*/ 2208 w 2208"/>
              <a:gd name="T12" fmla="*/ 238 h 2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08" h="238">
                <a:moveTo>
                  <a:pt x="0" y="238"/>
                </a:moveTo>
                <a:cubicBezTo>
                  <a:pt x="178" y="201"/>
                  <a:pt x="702" y="32"/>
                  <a:pt x="1070" y="16"/>
                </a:cubicBezTo>
                <a:cubicBezTo>
                  <a:pt x="1438" y="0"/>
                  <a:pt x="1971" y="116"/>
                  <a:pt x="2208" y="14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0" name="Freeform 18"/>
          <p:cNvSpPr>
            <a:spLocks/>
          </p:cNvSpPr>
          <p:nvPr/>
        </p:nvSpPr>
        <p:spPr bwMode="auto">
          <a:xfrm>
            <a:off x="1524000" y="2743200"/>
            <a:ext cx="1371600" cy="3048000"/>
          </a:xfrm>
          <a:custGeom>
            <a:avLst/>
            <a:gdLst>
              <a:gd name="T0" fmla="*/ 0 w 864"/>
              <a:gd name="T1" fmla="*/ 0 h 1920"/>
              <a:gd name="T2" fmla="*/ 457200 w 864"/>
              <a:gd name="T3" fmla="*/ 2209800 h 1920"/>
              <a:gd name="T4" fmla="*/ 1371600 w 864"/>
              <a:gd name="T5" fmla="*/ 3048000 h 1920"/>
              <a:gd name="T6" fmla="*/ 0 60000 65536"/>
              <a:gd name="T7" fmla="*/ 0 60000 65536"/>
              <a:gd name="T8" fmla="*/ 0 60000 65536"/>
              <a:gd name="T9" fmla="*/ 0 w 864"/>
              <a:gd name="T10" fmla="*/ 0 h 1920"/>
              <a:gd name="T11" fmla="*/ 864 w 864"/>
              <a:gd name="T12" fmla="*/ 1920 h 19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1920">
                <a:moveTo>
                  <a:pt x="0" y="0"/>
                </a:moveTo>
                <a:cubicBezTo>
                  <a:pt x="72" y="536"/>
                  <a:pt x="144" y="1072"/>
                  <a:pt x="288" y="1392"/>
                </a:cubicBezTo>
                <a:cubicBezTo>
                  <a:pt x="432" y="1712"/>
                  <a:pt x="648" y="1816"/>
                  <a:pt x="864" y="192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>
            <a:off x="4572000" y="2743200"/>
            <a:ext cx="914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2" name="Freeform 20"/>
          <p:cNvSpPr>
            <a:spLocks/>
          </p:cNvSpPr>
          <p:nvPr/>
        </p:nvSpPr>
        <p:spPr bwMode="auto">
          <a:xfrm>
            <a:off x="482600" y="2743200"/>
            <a:ext cx="3022600" cy="2819400"/>
          </a:xfrm>
          <a:custGeom>
            <a:avLst/>
            <a:gdLst>
              <a:gd name="T0" fmla="*/ 3022600 w 1904"/>
              <a:gd name="T1" fmla="*/ 0 h 1776"/>
              <a:gd name="T2" fmla="*/ 431800 w 1904"/>
              <a:gd name="T3" fmla="*/ 1143000 h 1776"/>
              <a:gd name="T4" fmla="*/ 431800 w 1904"/>
              <a:gd name="T5" fmla="*/ 2819400 h 1776"/>
              <a:gd name="T6" fmla="*/ 0 60000 65536"/>
              <a:gd name="T7" fmla="*/ 0 60000 65536"/>
              <a:gd name="T8" fmla="*/ 0 60000 65536"/>
              <a:gd name="T9" fmla="*/ 0 w 1904"/>
              <a:gd name="T10" fmla="*/ 0 h 1776"/>
              <a:gd name="T11" fmla="*/ 1904 w 1904"/>
              <a:gd name="T12" fmla="*/ 1776 h 17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4" h="1776">
                <a:moveTo>
                  <a:pt x="1904" y="0"/>
                </a:moveTo>
                <a:cubicBezTo>
                  <a:pt x="1224" y="212"/>
                  <a:pt x="544" y="424"/>
                  <a:pt x="272" y="720"/>
                </a:cubicBezTo>
                <a:cubicBezTo>
                  <a:pt x="0" y="1016"/>
                  <a:pt x="136" y="1396"/>
                  <a:pt x="272" y="17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3" name="Freeform 21"/>
          <p:cNvSpPr>
            <a:spLocks/>
          </p:cNvSpPr>
          <p:nvPr/>
        </p:nvSpPr>
        <p:spPr bwMode="auto">
          <a:xfrm>
            <a:off x="4572000" y="2743200"/>
            <a:ext cx="4000500" cy="2514600"/>
          </a:xfrm>
          <a:custGeom>
            <a:avLst/>
            <a:gdLst>
              <a:gd name="T0" fmla="*/ 0 w 2520"/>
              <a:gd name="T1" fmla="*/ 0 h 1584"/>
              <a:gd name="T2" fmla="*/ 3390900 w 2520"/>
              <a:gd name="T3" fmla="*/ 825500 h 1584"/>
              <a:gd name="T4" fmla="*/ 3657600 w 2520"/>
              <a:gd name="T5" fmla="*/ 2514600 h 1584"/>
              <a:gd name="T6" fmla="*/ 0 60000 65536"/>
              <a:gd name="T7" fmla="*/ 0 60000 65536"/>
              <a:gd name="T8" fmla="*/ 0 60000 65536"/>
              <a:gd name="T9" fmla="*/ 0 w 2520"/>
              <a:gd name="T10" fmla="*/ 0 h 1584"/>
              <a:gd name="T11" fmla="*/ 2520 w 2520"/>
              <a:gd name="T12" fmla="*/ 1584 h 1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20" h="1584">
                <a:moveTo>
                  <a:pt x="0" y="0"/>
                </a:moveTo>
                <a:cubicBezTo>
                  <a:pt x="356" y="87"/>
                  <a:pt x="1752" y="256"/>
                  <a:pt x="2136" y="520"/>
                </a:cubicBezTo>
                <a:cubicBezTo>
                  <a:pt x="2520" y="784"/>
                  <a:pt x="2269" y="1362"/>
                  <a:pt x="2304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4" name="Line 22"/>
          <p:cNvSpPr>
            <a:spLocks noChangeShapeType="1"/>
          </p:cNvSpPr>
          <p:nvPr/>
        </p:nvSpPr>
        <p:spPr bwMode="auto">
          <a:xfrm>
            <a:off x="7315200" y="2895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5" name="Line 23"/>
          <p:cNvSpPr>
            <a:spLocks noChangeShapeType="1"/>
          </p:cNvSpPr>
          <p:nvPr/>
        </p:nvSpPr>
        <p:spPr bwMode="auto">
          <a:xfrm>
            <a:off x="3276600" y="4572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6" name="Line 24"/>
          <p:cNvSpPr>
            <a:spLocks noChangeShapeType="1"/>
          </p:cNvSpPr>
          <p:nvPr/>
        </p:nvSpPr>
        <p:spPr bwMode="auto">
          <a:xfrm>
            <a:off x="5562600" y="4343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7" name="Freeform 25"/>
          <p:cNvSpPr>
            <a:spLocks/>
          </p:cNvSpPr>
          <p:nvPr/>
        </p:nvSpPr>
        <p:spPr bwMode="auto">
          <a:xfrm>
            <a:off x="1905000" y="2895600"/>
            <a:ext cx="3810000" cy="2667000"/>
          </a:xfrm>
          <a:custGeom>
            <a:avLst/>
            <a:gdLst>
              <a:gd name="T0" fmla="*/ 3810000 w 2400"/>
              <a:gd name="T1" fmla="*/ 0 h 1680"/>
              <a:gd name="T2" fmla="*/ 2628900 w 2400"/>
              <a:gd name="T3" fmla="*/ 914400 h 1680"/>
              <a:gd name="T4" fmla="*/ 2006600 w 2400"/>
              <a:gd name="T5" fmla="*/ 2070100 h 1680"/>
              <a:gd name="T6" fmla="*/ 0 w 2400"/>
              <a:gd name="T7" fmla="*/ 2667000 h 1680"/>
              <a:gd name="T8" fmla="*/ 0 60000 65536"/>
              <a:gd name="T9" fmla="*/ 0 60000 65536"/>
              <a:gd name="T10" fmla="*/ 0 60000 65536"/>
              <a:gd name="T11" fmla="*/ 0 60000 65536"/>
              <a:gd name="T12" fmla="*/ 0 w 2400"/>
              <a:gd name="T13" fmla="*/ 0 h 1680"/>
              <a:gd name="T14" fmla="*/ 2400 w 2400"/>
              <a:gd name="T15" fmla="*/ 1680 h 16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00" h="1680">
                <a:moveTo>
                  <a:pt x="2400" y="0"/>
                </a:moveTo>
                <a:cubicBezTo>
                  <a:pt x="2276" y="96"/>
                  <a:pt x="1845" y="359"/>
                  <a:pt x="1656" y="576"/>
                </a:cubicBezTo>
                <a:cubicBezTo>
                  <a:pt x="1467" y="793"/>
                  <a:pt x="1540" y="1120"/>
                  <a:pt x="1264" y="1304"/>
                </a:cubicBezTo>
                <a:cubicBezTo>
                  <a:pt x="988" y="1488"/>
                  <a:pt x="263" y="1602"/>
                  <a:pt x="0" y="16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13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ar-JO" dirty="0" smtClean="0"/>
              <a:t>What is Artificial Intelligence ? (1)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25450" y="1625600"/>
            <a:ext cx="8304213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GB" altLang="ar-JO" sz="2400" smtClean="0"/>
              <a:t>making computers that think?</a:t>
            </a:r>
          </a:p>
          <a:p>
            <a:pPr eaLnBrk="1" hangingPunct="1">
              <a:lnSpc>
                <a:spcPct val="120000"/>
              </a:lnSpc>
            </a:pPr>
            <a:r>
              <a:rPr lang="en-GB" altLang="ar-JO" sz="2400" smtClean="0"/>
              <a:t>the automation of activities we associate with human thinking, like decision making, learning ... ?</a:t>
            </a:r>
          </a:p>
          <a:p>
            <a:pPr eaLnBrk="1" hangingPunct="1">
              <a:lnSpc>
                <a:spcPct val="120000"/>
              </a:lnSpc>
            </a:pPr>
            <a:r>
              <a:rPr lang="en-GB" altLang="ar-JO" sz="2400" smtClean="0"/>
              <a:t>the art of creating machines that perform functions that require intelligence when performed by people ?</a:t>
            </a:r>
          </a:p>
          <a:p>
            <a:pPr eaLnBrk="1" hangingPunct="1">
              <a:lnSpc>
                <a:spcPct val="120000"/>
              </a:lnSpc>
            </a:pPr>
            <a:r>
              <a:rPr lang="en-GB" altLang="ar-JO" sz="2400" smtClean="0"/>
              <a:t>the study of mental faculties through the use of computational models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159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ar-JO" dirty="0" smtClean="0"/>
              <a:t>What is Artificial Intelligence ?(2)</a:t>
            </a:r>
            <a:endParaRPr lang="en-GB" altLang="ar-JO" sz="3600" dirty="0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524000"/>
            <a:ext cx="7772400" cy="49561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GB" altLang="ar-JO" sz="2400" smtClean="0"/>
              <a:t>the study of computations that make it possible to perceive, reason and act ?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ar-JO" sz="2400" smtClean="0"/>
              <a:t>a field of study that seeks to explain and emulate intelligent behaviour in terms of computational processes ?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ar-JO" sz="2400" smtClean="0"/>
              <a:t>a branch of computer science that is concerned with the automation of intelligent behaviour ?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ar-JO" sz="2400" smtClean="0"/>
              <a:t>anything in Computing Science that we don't yet know how to do properly ? (!)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ar-JO" smtClean="0"/>
              <a:t>What is Artificial Intelligence ?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452688" y="1525588"/>
            <a:ext cx="5600700" cy="3773487"/>
            <a:chOff x="1855" y="881"/>
            <a:chExt cx="4220" cy="2642"/>
          </a:xfrm>
        </p:grpSpPr>
        <p:sp>
          <p:nvSpPr>
            <p:cNvPr id="28680" name="Line 4"/>
            <p:cNvSpPr>
              <a:spLocks noChangeShapeType="1"/>
            </p:cNvSpPr>
            <p:nvPr/>
          </p:nvSpPr>
          <p:spPr bwMode="auto">
            <a:xfrm>
              <a:off x="1885" y="2214"/>
              <a:ext cx="41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1" name="Line 5"/>
            <p:cNvSpPr>
              <a:spLocks noChangeShapeType="1"/>
            </p:cNvSpPr>
            <p:nvPr/>
          </p:nvSpPr>
          <p:spPr bwMode="auto">
            <a:xfrm>
              <a:off x="3942" y="889"/>
              <a:ext cx="0" cy="26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855" y="881"/>
              <a:ext cx="4220" cy="2641"/>
              <a:chOff x="1785" y="998"/>
              <a:chExt cx="4220" cy="2641"/>
            </a:xfrm>
          </p:grpSpPr>
          <p:sp>
            <p:nvSpPr>
              <p:cNvPr id="28683" name="Rectangle 7"/>
              <p:cNvSpPr>
                <a:spLocks noChangeArrowheads="1"/>
              </p:cNvSpPr>
              <p:nvPr/>
            </p:nvSpPr>
            <p:spPr bwMode="auto">
              <a:xfrm>
                <a:off x="1823" y="998"/>
                <a:ext cx="4107" cy="264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ar-JO" altLang="ar-JO"/>
              </a:p>
            </p:txBody>
          </p:sp>
          <p:sp>
            <p:nvSpPr>
              <p:cNvPr id="28684" name="Text Box 8"/>
              <p:cNvSpPr txBox="1">
                <a:spLocks noChangeArrowheads="1"/>
              </p:cNvSpPr>
              <p:nvPr/>
            </p:nvSpPr>
            <p:spPr bwMode="auto">
              <a:xfrm>
                <a:off x="3930" y="2664"/>
                <a:ext cx="1965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act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rationally</a:t>
                </a:r>
              </a:p>
            </p:txBody>
          </p:sp>
          <p:sp>
            <p:nvSpPr>
              <p:cNvPr id="28685" name="Text Box 9"/>
              <p:cNvSpPr txBox="1">
                <a:spLocks noChangeArrowheads="1"/>
              </p:cNvSpPr>
              <p:nvPr/>
            </p:nvSpPr>
            <p:spPr bwMode="auto">
              <a:xfrm>
                <a:off x="1785" y="1357"/>
                <a:ext cx="2181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think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like humans</a:t>
                </a:r>
              </a:p>
            </p:txBody>
          </p:sp>
          <p:sp>
            <p:nvSpPr>
              <p:cNvPr id="28686" name="Text Box 10"/>
              <p:cNvSpPr txBox="1">
                <a:spLocks noChangeArrowheads="1"/>
              </p:cNvSpPr>
              <p:nvPr/>
            </p:nvSpPr>
            <p:spPr bwMode="auto">
              <a:xfrm>
                <a:off x="3825" y="1357"/>
                <a:ext cx="2180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think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rationally</a:t>
                </a:r>
              </a:p>
            </p:txBody>
          </p:sp>
          <p:sp>
            <p:nvSpPr>
              <p:cNvPr id="28687" name="Text Box 11"/>
              <p:cNvSpPr txBox="1">
                <a:spLocks noChangeArrowheads="1"/>
              </p:cNvSpPr>
              <p:nvPr/>
            </p:nvSpPr>
            <p:spPr bwMode="auto">
              <a:xfrm>
                <a:off x="1850" y="2664"/>
                <a:ext cx="1965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  <a:t>Systems that act</a:t>
                </a:r>
                <a:b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</a:br>
                <a: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  <a:t> like humans</a:t>
                </a:r>
              </a:p>
            </p:txBody>
          </p:sp>
        </p:grpSp>
      </p:grp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604838" y="2025650"/>
            <a:ext cx="16906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THOUGHT</a:t>
            </a:r>
            <a:endParaRPr lang="en-GB" altLang="ar-JO" sz="2400">
              <a:latin typeface="Arial" pitchFamily="34" charset="0"/>
            </a:endParaRP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536575" y="4216400"/>
            <a:ext cx="2014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BEHAVIOUR</a:t>
            </a:r>
            <a:endParaRPr lang="en-GB" altLang="ar-JO" sz="1800">
              <a:latin typeface="Arial" pitchFamily="34" charset="0"/>
            </a:endParaRP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3246438" y="5551488"/>
            <a:ext cx="1320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HUMAN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5819775" y="5538788"/>
            <a:ext cx="1758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RATIONAL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6" grpId="0" build="p" autoUpdateAnimBg="0"/>
      <p:bldP spid="21517" grpId="0" build="p" autoUpdateAnimBg="0"/>
      <p:bldP spid="21518" grpId="0" build="p" autoUpdateAnimBg="0"/>
      <p:bldP spid="2151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95263"/>
            <a:ext cx="77724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cs typeface="+mj-cs"/>
              </a:rPr>
              <a:t>Systems that act like humans:</a:t>
            </a:r>
            <a:r>
              <a:rPr lang="ar-JO"/>
              <a:t/>
            </a:r>
            <a:br>
              <a:rPr lang="ar-JO"/>
            </a:br>
            <a:r>
              <a:rPr lang="ar-JO"/>
              <a:t> </a:t>
            </a:r>
            <a:r>
              <a:rPr lang="en-US">
                <a:cs typeface="+mj-cs"/>
              </a:rPr>
              <a:t>Turing Test</a:t>
            </a:r>
            <a:endParaRPr lang="en-GB">
              <a:cs typeface="+mj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752600"/>
            <a:ext cx="7772400" cy="4114800"/>
          </a:xfrm>
          <a:noFill/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GB" altLang="ar-JO" dirty="0" smtClean="0"/>
              <a:t>“The art of creating machines that perform functions that require intelligence when performed by people.” (</a:t>
            </a:r>
            <a:r>
              <a:rPr lang="en-GB" altLang="ar-JO" dirty="0" err="1" smtClean="0"/>
              <a:t>Kurzweil</a:t>
            </a:r>
            <a:r>
              <a:rPr lang="en-GB" altLang="ar-JO" dirty="0" smtClean="0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GB" altLang="ar-JO" dirty="0" smtClean="0"/>
              <a:t>“The study of how to make computers do things at which, at the moment, people are better.” (Rich and Knight)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160338"/>
            <a:ext cx="7772400" cy="114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GB" altLang="ar-JO" smtClean="0"/>
              <a:t>Systems that act like humans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2971800"/>
            <a:ext cx="7543800" cy="3673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ar-JO" sz="2800" dirty="0" smtClean="0"/>
              <a:t>You enter a room which has a computer terminal. You have a fixed period of time to type what you want into the terminal, and study the replies. At the other end of the line is either a human being or a computer system.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dirty="0" smtClean="0"/>
              <a:t>If it is a computer system, and at the end of the period you cannot reliably determine whether it is a system or a human, then the system is deemed to be intelligent.  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84375" y="1223963"/>
            <a:ext cx="5427663" cy="1528762"/>
            <a:chOff x="1250" y="771"/>
            <a:chExt cx="3419" cy="963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250" y="771"/>
              <a:ext cx="3419" cy="963"/>
              <a:chOff x="1669" y="1065"/>
              <a:chExt cx="3704" cy="963"/>
            </a:xfrm>
          </p:grpSpPr>
          <p:graphicFrame>
            <p:nvGraphicFramePr>
              <p:cNvPr id="32775" name="Object 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1669" y="1375"/>
              <a:ext cx="655" cy="579"/>
            </p:xfrm>
            <a:graphic>
              <a:graphicData uri="http://schemas.openxmlformats.org/presentationml/2006/ole">
                <p:oleObj spid="_x0000_s1026" name="Microsoft ClipArt Gallery" r:id="rId5" imgW="3949700" imgH="3492500" progId="">
                  <p:embed/>
                </p:oleObj>
              </a:graphicData>
            </a:graphic>
          </p:graphicFrame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2652" y="1065"/>
                <a:ext cx="2721" cy="963"/>
                <a:chOff x="1795" y="726"/>
                <a:chExt cx="2721" cy="963"/>
              </a:xfrm>
            </p:grpSpPr>
            <p:sp>
              <p:nvSpPr>
                <p:cNvPr id="32777" name="Rectangle 8"/>
                <p:cNvSpPr>
                  <a:spLocks noChangeArrowheads="1"/>
                </p:cNvSpPr>
                <p:nvPr/>
              </p:nvSpPr>
              <p:spPr bwMode="auto">
                <a:xfrm>
                  <a:off x="3698" y="1061"/>
                  <a:ext cx="185" cy="23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ar-JO" altLang="ar-JO"/>
                </a:p>
              </p:txBody>
            </p:sp>
            <p:sp>
              <p:nvSpPr>
                <p:cNvPr id="32778" name="Line 9"/>
                <p:cNvSpPr>
                  <a:spLocks noChangeShapeType="1"/>
                </p:cNvSpPr>
                <p:nvPr/>
              </p:nvSpPr>
              <p:spPr bwMode="auto">
                <a:xfrm>
                  <a:off x="1801" y="745"/>
                  <a:ext cx="1976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779" name="Line 10"/>
                <p:cNvSpPr>
                  <a:spLocks noChangeShapeType="1"/>
                </p:cNvSpPr>
                <p:nvPr/>
              </p:nvSpPr>
              <p:spPr bwMode="auto">
                <a:xfrm>
                  <a:off x="3783" y="1077"/>
                  <a:ext cx="0" cy="59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780" name="Line 11"/>
                <p:cNvSpPr>
                  <a:spLocks noChangeShapeType="1"/>
                </p:cNvSpPr>
                <p:nvPr/>
              </p:nvSpPr>
              <p:spPr bwMode="auto">
                <a:xfrm>
                  <a:off x="1801" y="1343"/>
                  <a:ext cx="1976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781" name="Line 12"/>
                <p:cNvSpPr>
                  <a:spLocks noChangeShapeType="1"/>
                </p:cNvSpPr>
                <p:nvPr/>
              </p:nvSpPr>
              <p:spPr bwMode="auto">
                <a:xfrm>
                  <a:off x="1795" y="745"/>
                  <a:ext cx="0" cy="59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782" name="Freeform 13"/>
                <p:cNvSpPr>
                  <a:spLocks/>
                </p:cNvSpPr>
                <p:nvPr/>
              </p:nvSpPr>
              <p:spPr bwMode="auto">
                <a:xfrm>
                  <a:off x="2421" y="1526"/>
                  <a:ext cx="689" cy="66"/>
                </a:xfrm>
                <a:custGeom>
                  <a:avLst/>
                  <a:gdLst>
                    <a:gd name="T0" fmla="*/ 0 w 477"/>
                    <a:gd name="T1" fmla="*/ 0 h 96"/>
                    <a:gd name="T2" fmla="*/ 52 w 477"/>
                    <a:gd name="T3" fmla="*/ 21 h 96"/>
                    <a:gd name="T4" fmla="*/ 82 w 477"/>
                    <a:gd name="T5" fmla="*/ 21 h 96"/>
                    <a:gd name="T6" fmla="*/ 114 w 477"/>
                    <a:gd name="T7" fmla="*/ 21 h 96"/>
                    <a:gd name="T8" fmla="*/ 144 w 477"/>
                    <a:gd name="T9" fmla="*/ 28 h 96"/>
                    <a:gd name="T10" fmla="*/ 175 w 477"/>
                    <a:gd name="T11" fmla="*/ 36 h 96"/>
                    <a:gd name="T12" fmla="*/ 207 w 477"/>
                    <a:gd name="T13" fmla="*/ 36 h 96"/>
                    <a:gd name="T14" fmla="*/ 237 w 477"/>
                    <a:gd name="T15" fmla="*/ 36 h 96"/>
                    <a:gd name="T16" fmla="*/ 253 w 477"/>
                    <a:gd name="T17" fmla="*/ 50 h 96"/>
                    <a:gd name="T18" fmla="*/ 237 w 477"/>
                    <a:gd name="T19" fmla="*/ 65 h 96"/>
                    <a:gd name="T20" fmla="*/ 283 w 477"/>
                    <a:gd name="T21" fmla="*/ 65 h 96"/>
                    <a:gd name="T22" fmla="*/ 313 w 477"/>
                    <a:gd name="T23" fmla="*/ 65 h 96"/>
                    <a:gd name="T24" fmla="*/ 345 w 477"/>
                    <a:gd name="T25" fmla="*/ 58 h 96"/>
                    <a:gd name="T26" fmla="*/ 376 w 477"/>
                    <a:gd name="T27" fmla="*/ 50 h 96"/>
                    <a:gd name="T28" fmla="*/ 406 w 477"/>
                    <a:gd name="T29" fmla="*/ 43 h 96"/>
                    <a:gd name="T30" fmla="*/ 438 w 477"/>
                    <a:gd name="T31" fmla="*/ 36 h 96"/>
                    <a:gd name="T32" fmla="*/ 468 w 477"/>
                    <a:gd name="T33" fmla="*/ 28 h 96"/>
                    <a:gd name="T34" fmla="*/ 688 w 477"/>
                    <a:gd name="T35" fmla="*/ 39 h 9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477"/>
                    <a:gd name="T55" fmla="*/ 0 h 96"/>
                    <a:gd name="T56" fmla="*/ 477 w 477"/>
                    <a:gd name="T57" fmla="*/ 96 h 9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477" h="96">
                      <a:moveTo>
                        <a:pt x="0" y="0"/>
                      </a:moveTo>
                      <a:lnTo>
                        <a:pt x="36" y="31"/>
                      </a:lnTo>
                      <a:lnTo>
                        <a:pt x="57" y="31"/>
                      </a:lnTo>
                      <a:lnTo>
                        <a:pt x="79" y="31"/>
                      </a:lnTo>
                      <a:lnTo>
                        <a:pt x="100" y="41"/>
                      </a:lnTo>
                      <a:lnTo>
                        <a:pt x="121" y="52"/>
                      </a:lnTo>
                      <a:lnTo>
                        <a:pt x="143" y="52"/>
                      </a:lnTo>
                      <a:lnTo>
                        <a:pt x="164" y="52"/>
                      </a:lnTo>
                      <a:lnTo>
                        <a:pt x="175" y="73"/>
                      </a:lnTo>
                      <a:lnTo>
                        <a:pt x="164" y="95"/>
                      </a:lnTo>
                      <a:lnTo>
                        <a:pt x="196" y="95"/>
                      </a:lnTo>
                      <a:lnTo>
                        <a:pt x="217" y="95"/>
                      </a:lnTo>
                      <a:lnTo>
                        <a:pt x="239" y="84"/>
                      </a:lnTo>
                      <a:lnTo>
                        <a:pt x="260" y="73"/>
                      </a:lnTo>
                      <a:lnTo>
                        <a:pt x="281" y="63"/>
                      </a:lnTo>
                      <a:lnTo>
                        <a:pt x="303" y="52"/>
                      </a:lnTo>
                      <a:lnTo>
                        <a:pt x="324" y="41"/>
                      </a:lnTo>
                      <a:lnTo>
                        <a:pt x="476" y="56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83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1797" y="726"/>
                  <a:ext cx="81" cy="1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784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3796" y="1061"/>
                  <a:ext cx="81" cy="1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78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796" y="1656"/>
                  <a:ext cx="81" cy="1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786" name="Line 17"/>
                <p:cNvSpPr>
                  <a:spLocks noChangeShapeType="1"/>
                </p:cNvSpPr>
                <p:nvPr/>
              </p:nvSpPr>
              <p:spPr bwMode="auto">
                <a:xfrm>
                  <a:off x="3887" y="1063"/>
                  <a:ext cx="0" cy="59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787" name="Line 18"/>
                <p:cNvSpPr>
                  <a:spLocks noChangeShapeType="1"/>
                </p:cNvSpPr>
                <p:nvPr/>
              </p:nvSpPr>
              <p:spPr bwMode="auto">
                <a:xfrm>
                  <a:off x="1899" y="731"/>
                  <a:ext cx="1976" cy="3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" name="Group 19"/>
                <p:cNvGrpSpPr>
                  <a:grpSpLocks/>
                </p:cNvGrpSpPr>
                <p:nvPr/>
              </p:nvGrpSpPr>
              <p:grpSpPr bwMode="auto">
                <a:xfrm>
                  <a:off x="3519" y="1639"/>
                  <a:ext cx="213" cy="50"/>
                  <a:chOff x="2436" y="2368"/>
                  <a:chExt cx="148" cy="72"/>
                </a:xfrm>
              </p:grpSpPr>
              <p:sp>
                <p:nvSpPr>
                  <p:cNvPr id="32795" name="Line 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6" y="2408"/>
                    <a:ext cx="88" cy="3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2796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0" y="2380"/>
                    <a:ext cx="8" cy="5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2797" name="Line 2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48" y="2368"/>
                    <a:ext cx="3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2798" name="Line 2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36" y="2416"/>
                    <a:ext cx="64" cy="2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" name="Group 24"/>
                <p:cNvGrpSpPr>
                  <a:grpSpLocks/>
                </p:cNvGrpSpPr>
                <p:nvPr/>
              </p:nvGrpSpPr>
              <p:grpSpPr bwMode="auto">
                <a:xfrm>
                  <a:off x="1855" y="1354"/>
                  <a:ext cx="213" cy="50"/>
                  <a:chOff x="1284" y="1956"/>
                  <a:chExt cx="148" cy="72"/>
                </a:xfrm>
              </p:grpSpPr>
              <p:sp>
                <p:nvSpPr>
                  <p:cNvPr id="32791" name="Line 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44" y="1996"/>
                    <a:ext cx="88" cy="3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2792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48" y="1968"/>
                    <a:ext cx="8" cy="5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2793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96" y="1956"/>
                    <a:ext cx="3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2794" name="Line 2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84" y="2004"/>
                    <a:ext cx="64" cy="2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2790" name="Rectangle 29"/>
                <p:cNvSpPr>
                  <a:spLocks noChangeArrowheads="1"/>
                </p:cNvSpPr>
                <p:nvPr/>
              </p:nvSpPr>
              <p:spPr bwMode="auto">
                <a:xfrm>
                  <a:off x="4135" y="1088"/>
                  <a:ext cx="381" cy="5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GB" altLang="ar-JO" sz="4800">
                      <a:latin typeface="Arial" pitchFamily="34" charset="0"/>
                    </a:rPr>
                    <a:t>?</a:t>
                  </a:r>
                </a:p>
              </p:txBody>
            </p:sp>
          </p:grpSp>
        </p:grpSp>
        <p:sp>
          <p:nvSpPr>
            <p:cNvPr id="32774" name="Line 30"/>
            <p:cNvSpPr>
              <a:spLocks noChangeShapeType="1"/>
            </p:cNvSpPr>
            <p:nvPr/>
          </p:nvSpPr>
          <p:spPr bwMode="auto">
            <a:xfrm>
              <a:off x="1815" y="1530"/>
              <a:ext cx="920" cy="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ar-JO" sz="3600" smtClean="0"/>
              <a:t>Systems that act like humans</a:t>
            </a:r>
            <a:endParaRPr lang="en-US" altLang="ar-JO" sz="3600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752600"/>
            <a:ext cx="7772400" cy="4114800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endParaRPr lang="en-US" altLang="ar-JO" sz="2800" smtClean="0"/>
          </a:p>
          <a:p>
            <a:pPr eaLnBrk="1" hangingPunct="1"/>
            <a:r>
              <a:rPr lang="en-US" altLang="zh-TW" sz="2800" smtClean="0"/>
              <a:t>The Turing Test approach </a:t>
            </a:r>
          </a:p>
          <a:p>
            <a:pPr lvl="1" eaLnBrk="1" hangingPunct="1"/>
            <a:r>
              <a:rPr lang="en-US" altLang="zh-TW" smtClean="0"/>
              <a:t>a human questioner cannot tell if</a:t>
            </a:r>
          </a:p>
          <a:p>
            <a:pPr lvl="2" eaLnBrk="1" hangingPunct="1"/>
            <a:r>
              <a:rPr lang="en-US" altLang="zh-TW" smtClean="0"/>
              <a:t> there is a computer or a human answering his question, via teletype (remote communication)</a:t>
            </a:r>
          </a:p>
          <a:p>
            <a:pPr lvl="1" eaLnBrk="1" hangingPunct="1"/>
            <a:r>
              <a:rPr lang="en-US" altLang="zh-TW" smtClean="0"/>
              <a:t>The computer must behave intelligently</a:t>
            </a:r>
          </a:p>
          <a:p>
            <a:pPr eaLnBrk="1" hangingPunct="1"/>
            <a:r>
              <a:rPr lang="en-US" altLang="zh-TW" sz="2800" smtClean="0"/>
              <a:t>Intelligent behavior </a:t>
            </a:r>
          </a:p>
          <a:p>
            <a:pPr lvl="1" eaLnBrk="1" hangingPunct="1"/>
            <a:r>
              <a:rPr lang="en-US" altLang="zh-TW" smtClean="0"/>
              <a:t>to achieve human-level performance in all cognitive tasks </a:t>
            </a:r>
          </a:p>
          <a:p>
            <a:pPr eaLnBrk="1" hangingPunct="1"/>
            <a:endParaRPr lang="en-US" altLang="ar-JO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Acting humanly: Turing Test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000" b="0" dirty="0"/>
              <a:t>Turing (1950) "Computing machinery and intelligence":</a:t>
            </a:r>
          </a:p>
          <a:p>
            <a:pPr>
              <a:lnSpc>
                <a:spcPct val="80000"/>
              </a:lnSpc>
            </a:pPr>
            <a:r>
              <a:rPr lang="en-US" sz="2000" b="0" dirty="0"/>
              <a:t>"Can machines think?" </a:t>
            </a:r>
            <a:r>
              <a:rPr lang="en-US" sz="2000" b="0" dirty="0">
                <a:sym typeface="Wingdings" pitchFamily="2" charset="2"/>
              </a:rPr>
              <a:t></a:t>
            </a:r>
            <a:r>
              <a:rPr lang="en-US" sz="2000" b="0" dirty="0"/>
              <a:t> "Can machines behave intelligently?"</a:t>
            </a:r>
          </a:p>
          <a:p>
            <a:pPr>
              <a:lnSpc>
                <a:spcPct val="80000"/>
              </a:lnSpc>
            </a:pPr>
            <a:r>
              <a:rPr lang="en-US" sz="2000" b="0" dirty="0"/>
              <a:t>Operational test for intelligent behavior: the Imitation Game</a:t>
            </a:r>
          </a:p>
          <a:p>
            <a:pPr>
              <a:lnSpc>
                <a:spcPct val="80000"/>
              </a:lnSpc>
            </a:pPr>
            <a:endParaRPr lang="en-US" sz="2000" b="0" dirty="0"/>
          </a:p>
          <a:p>
            <a:pPr>
              <a:lnSpc>
                <a:spcPct val="80000"/>
              </a:lnSpc>
            </a:pPr>
            <a:endParaRPr lang="en-US" sz="2000" b="0" dirty="0"/>
          </a:p>
          <a:p>
            <a:pPr>
              <a:lnSpc>
                <a:spcPct val="80000"/>
              </a:lnSpc>
            </a:pPr>
            <a:endParaRPr lang="en-US" sz="2000" b="0" dirty="0"/>
          </a:p>
          <a:p>
            <a:pPr>
              <a:lnSpc>
                <a:spcPct val="80000"/>
              </a:lnSpc>
            </a:pPr>
            <a:endParaRPr lang="en-US" sz="2000" b="0" dirty="0"/>
          </a:p>
          <a:p>
            <a:pPr>
              <a:lnSpc>
                <a:spcPct val="80000"/>
              </a:lnSpc>
              <a:buFontTx/>
              <a:buNone/>
            </a:pPr>
            <a:endParaRPr lang="en-US" sz="2000" b="0" dirty="0"/>
          </a:p>
          <a:p>
            <a:pPr>
              <a:lnSpc>
                <a:spcPct val="80000"/>
              </a:lnSpc>
              <a:buFontTx/>
              <a:buNone/>
            </a:pPr>
            <a:endParaRPr lang="en-US" sz="2000" b="0" dirty="0"/>
          </a:p>
          <a:p>
            <a:pPr>
              <a:lnSpc>
                <a:spcPct val="80000"/>
              </a:lnSpc>
              <a:buFontTx/>
              <a:buNone/>
            </a:pPr>
            <a:endParaRPr lang="en-US" sz="2000" b="0" dirty="0"/>
          </a:p>
          <a:p>
            <a:pPr>
              <a:lnSpc>
                <a:spcPct val="80000"/>
              </a:lnSpc>
            </a:pPr>
            <a:endParaRPr lang="en-US" sz="2000" b="0" dirty="0" smtClean="0"/>
          </a:p>
          <a:p>
            <a:pPr>
              <a:lnSpc>
                <a:spcPct val="80000"/>
              </a:lnSpc>
            </a:pPr>
            <a:r>
              <a:rPr lang="en-US" sz="2000" b="0" dirty="0" smtClean="0"/>
              <a:t>Anticipated </a:t>
            </a:r>
            <a:r>
              <a:rPr lang="en-US" sz="2000" b="0" dirty="0"/>
              <a:t>major arguments against AI in following 50 years</a:t>
            </a:r>
          </a:p>
          <a:p>
            <a:pPr>
              <a:lnSpc>
                <a:spcPct val="80000"/>
              </a:lnSpc>
            </a:pPr>
            <a:r>
              <a:rPr lang="en-US" sz="2000" b="0" dirty="0"/>
              <a:t>Suggested major components of AI: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0" dirty="0"/>
              <a:t>     - knowledge representation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0" dirty="0"/>
              <a:t>     - reasoning,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0" dirty="0"/>
              <a:t>     - language/image understanding,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0" dirty="0"/>
              <a:t>     - learning</a:t>
            </a:r>
          </a:p>
        </p:txBody>
      </p:sp>
      <p:pic>
        <p:nvPicPr>
          <p:cNvPr id="87044" name="Picture 4" descr="turi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2286000"/>
            <a:ext cx="5496213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ar-JO" sz="3600" smtClean="0"/>
              <a:t>Systems that act like humans</a:t>
            </a:r>
            <a:endParaRPr lang="en-US" altLang="ar-JO" sz="3600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752600"/>
            <a:ext cx="7772400" cy="41148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sz="2400" smtClean="0"/>
              <a:t>These cognitive tasks include:</a:t>
            </a:r>
          </a:p>
          <a:p>
            <a:pPr lvl="1"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i="1" smtClean="0"/>
              <a:t>Natural language processing</a:t>
            </a:r>
            <a:r>
              <a:rPr lang="en-US" altLang="zh-TW" smtClean="0"/>
              <a:t> </a:t>
            </a:r>
          </a:p>
          <a:p>
            <a:pPr lvl="2" eaLnBrk="1" hangingPunct="1"/>
            <a:r>
              <a:rPr lang="en-US" altLang="zh-TW" smtClean="0"/>
              <a:t>for communication with human</a:t>
            </a:r>
          </a:p>
          <a:p>
            <a:pPr lvl="1" eaLnBrk="1" hangingPunct="1"/>
            <a:r>
              <a:rPr lang="en-US" altLang="zh-TW" smtClean="0">
                <a:latin typeface="Times New Roman" pitchFamily="18" charset="0"/>
              </a:rPr>
              <a:t> </a:t>
            </a:r>
            <a:r>
              <a:rPr lang="en-US" altLang="zh-TW" i="1" smtClean="0"/>
              <a:t>Knowledge representation</a:t>
            </a:r>
            <a:r>
              <a:rPr lang="en-US" altLang="zh-TW" smtClean="0"/>
              <a:t> </a:t>
            </a:r>
          </a:p>
          <a:p>
            <a:pPr lvl="2" eaLnBrk="1" hangingPunct="1"/>
            <a:r>
              <a:rPr lang="en-US" altLang="zh-TW" smtClean="0"/>
              <a:t>to store information effectively &amp; efficiently</a:t>
            </a:r>
          </a:p>
          <a:p>
            <a:pPr lvl="1" eaLnBrk="1" hangingPunct="1"/>
            <a:r>
              <a:rPr lang="en-US" altLang="zh-TW" smtClean="0">
                <a:latin typeface="Times New Roman" pitchFamily="18" charset="0"/>
              </a:rPr>
              <a:t> </a:t>
            </a:r>
            <a:r>
              <a:rPr lang="en-US" altLang="zh-TW" i="1" smtClean="0"/>
              <a:t>Automated reasoning</a:t>
            </a:r>
            <a:r>
              <a:rPr lang="en-US" altLang="zh-TW" smtClean="0"/>
              <a:t> </a:t>
            </a:r>
          </a:p>
          <a:p>
            <a:pPr lvl="2" eaLnBrk="1" hangingPunct="1"/>
            <a:r>
              <a:rPr lang="en-US" altLang="zh-TW" smtClean="0"/>
              <a:t>to retrieve &amp; answer questions using the stored information</a:t>
            </a:r>
          </a:p>
          <a:p>
            <a:pPr lvl="1" eaLnBrk="1" hangingPunct="1"/>
            <a:r>
              <a:rPr lang="en-US" altLang="zh-TW" i="1" smtClean="0"/>
              <a:t>Machine learning</a:t>
            </a:r>
            <a:endParaRPr lang="en-US" altLang="zh-TW" smtClean="0"/>
          </a:p>
          <a:p>
            <a:pPr lvl="2" eaLnBrk="1" hangingPunct="1"/>
            <a:r>
              <a:rPr lang="en-US" altLang="zh-TW" smtClean="0"/>
              <a:t> to adapt to new circumstances</a:t>
            </a:r>
            <a:endParaRPr lang="en-US" altLang="ar-JO" smtClean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The total Turing Test</a:t>
            </a:r>
            <a:endParaRPr lang="en-US" altLang="ar-JO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z="2800" smtClean="0"/>
              <a:t>Includes two more issues:</a:t>
            </a:r>
          </a:p>
          <a:p>
            <a:pPr lvl="1"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i="1" smtClean="0"/>
              <a:t>Computer vision</a:t>
            </a:r>
            <a:r>
              <a:rPr lang="en-US" altLang="zh-TW" smtClean="0"/>
              <a:t> </a:t>
            </a:r>
          </a:p>
          <a:p>
            <a:pPr lvl="2" eaLnBrk="1" hangingPunct="1"/>
            <a:r>
              <a:rPr lang="en-US" altLang="zh-TW" sz="2800" smtClean="0"/>
              <a:t>to perceive objects (seeing)</a:t>
            </a:r>
          </a:p>
          <a:p>
            <a:pPr lvl="1" eaLnBrk="1" hangingPunct="1"/>
            <a:r>
              <a:rPr lang="en-US" altLang="zh-TW" smtClean="0">
                <a:latin typeface="Times New Roman" pitchFamily="18" charset="0"/>
              </a:rPr>
              <a:t> </a:t>
            </a:r>
            <a:r>
              <a:rPr lang="en-US" altLang="zh-TW" i="1" smtClean="0"/>
              <a:t>Robotics</a:t>
            </a:r>
            <a:r>
              <a:rPr lang="en-US" altLang="zh-TW" smtClean="0"/>
              <a:t> </a:t>
            </a:r>
          </a:p>
          <a:p>
            <a:pPr lvl="2" eaLnBrk="1" hangingPunct="1"/>
            <a:r>
              <a:rPr lang="en-US" altLang="zh-TW" sz="2800" smtClean="0"/>
              <a:t>to move objects (acting)</a:t>
            </a:r>
          </a:p>
          <a:p>
            <a:pPr lvl="1" eaLnBrk="1" hangingPunct="1"/>
            <a:endParaRPr lang="en-US" altLang="zh-TW" smtClean="0"/>
          </a:p>
          <a:p>
            <a:pPr eaLnBrk="1" hangingPunct="1">
              <a:buFontTx/>
              <a:buNone/>
            </a:pPr>
            <a:endParaRPr lang="en-US" altLang="ar-JO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ar-JO" smtClean="0"/>
              <a:t>What is Artificial Intelligence ?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517775" y="1447800"/>
            <a:ext cx="5600700" cy="3773488"/>
            <a:chOff x="1855" y="881"/>
            <a:chExt cx="4220" cy="2642"/>
          </a:xfrm>
        </p:grpSpPr>
        <p:sp>
          <p:nvSpPr>
            <p:cNvPr id="37896" name="Line 4"/>
            <p:cNvSpPr>
              <a:spLocks noChangeShapeType="1"/>
            </p:cNvSpPr>
            <p:nvPr/>
          </p:nvSpPr>
          <p:spPr bwMode="auto">
            <a:xfrm>
              <a:off x="1885" y="2214"/>
              <a:ext cx="41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7" name="Line 5"/>
            <p:cNvSpPr>
              <a:spLocks noChangeShapeType="1"/>
            </p:cNvSpPr>
            <p:nvPr/>
          </p:nvSpPr>
          <p:spPr bwMode="auto">
            <a:xfrm>
              <a:off x="3942" y="889"/>
              <a:ext cx="0" cy="26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855" y="881"/>
              <a:ext cx="4220" cy="2641"/>
              <a:chOff x="1785" y="998"/>
              <a:chExt cx="4220" cy="2641"/>
            </a:xfrm>
          </p:grpSpPr>
          <p:sp>
            <p:nvSpPr>
              <p:cNvPr id="37899" name="Rectangle 7"/>
              <p:cNvSpPr>
                <a:spLocks noChangeArrowheads="1"/>
              </p:cNvSpPr>
              <p:nvPr/>
            </p:nvSpPr>
            <p:spPr bwMode="auto">
              <a:xfrm>
                <a:off x="1823" y="998"/>
                <a:ext cx="4107" cy="264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ar-JO" altLang="ar-JO"/>
              </a:p>
            </p:txBody>
          </p:sp>
          <p:sp>
            <p:nvSpPr>
              <p:cNvPr id="37900" name="Text Box 8"/>
              <p:cNvSpPr txBox="1">
                <a:spLocks noChangeArrowheads="1"/>
              </p:cNvSpPr>
              <p:nvPr/>
            </p:nvSpPr>
            <p:spPr bwMode="auto">
              <a:xfrm>
                <a:off x="3930" y="2664"/>
                <a:ext cx="1965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act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rationally</a:t>
                </a:r>
              </a:p>
            </p:txBody>
          </p:sp>
          <p:sp>
            <p:nvSpPr>
              <p:cNvPr id="37901" name="Text Box 9"/>
              <p:cNvSpPr txBox="1">
                <a:spLocks noChangeArrowheads="1"/>
              </p:cNvSpPr>
              <p:nvPr/>
            </p:nvSpPr>
            <p:spPr bwMode="auto">
              <a:xfrm>
                <a:off x="1785" y="1357"/>
                <a:ext cx="2181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  <a:t>Systems that think</a:t>
                </a:r>
                <a:b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</a:br>
                <a: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  <a:t> like humans</a:t>
                </a:r>
              </a:p>
            </p:txBody>
          </p:sp>
          <p:sp>
            <p:nvSpPr>
              <p:cNvPr id="37902" name="Text Box 10"/>
              <p:cNvSpPr txBox="1">
                <a:spLocks noChangeArrowheads="1"/>
              </p:cNvSpPr>
              <p:nvPr/>
            </p:nvSpPr>
            <p:spPr bwMode="auto">
              <a:xfrm>
                <a:off x="3825" y="1357"/>
                <a:ext cx="2180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think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rationally</a:t>
                </a:r>
              </a:p>
            </p:txBody>
          </p:sp>
          <p:sp>
            <p:nvSpPr>
              <p:cNvPr id="37903" name="Text Box 11"/>
              <p:cNvSpPr txBox="1">
                <a:spLocks noChangeArrowheads="1"/>
              </p:cNvSpPr>
              <p:nvPr/>
            </p:nvSpPr>
            <p:spPr bwMode="auto">
              <a:xfrm>
                <a:off x="1850" y="2664"/>
                <a:ext cx="1965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act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like humans</a:t>
                </a:r>
              </a:p>
            </p:txBody>
          </p:sp>
        </p:grpSp>
      </p:grpSp>
      <p:sp>
        <p:nvSpPr>
          <p:cNvPr id="37892" name="Text Box 12"/>
          <p:cNvSpPr txBox="1">
            <a:spLocks noChangeArrowheads="1"/>
          </p:cNvSpPr>
          <p:nvPr/>
        </p:nvSpPr>
        <p:spPr bwMode="auto">
          <a:xfrm>
            <a:off x="669925" y="1947863"/>
            <a:ext cx="16906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THOUGHT</a:t>
            </a:r>
            <a:endParaRPr lang="en-GB" altLang="ar-JO" sz="2400">
              <a:latin typeface="Arial" pitchFamily="34" charset="0"/>
            </a:endParaRPr>
          </a:p>
        </p:txBody>
      </p:sp>
      <p:sp>
        <p:nvSpPr>
          <p:cNvPr id="37893" name="Text Box 13"/>
          <p:cNvSpPr txBox="1">
            <a:spLocks noChangeArrowheads="1"/>
          </p:cNvSpPr>
          <p:nvPr/>
        </p:nvSpPr>
        <p:spPr bwMode="auto">
          <a:xfrm>
            <a:off x="601663" y="4138613"/>
            <a:ext cx="20145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BEHAVIOUR</a:t>
            </a:r>
            <a:endParaRPr lang="en-GB" altLang="ar-JO" sz="1800">
              <a:latin typeface="Arial" pitchFamily="34" charset="0"/>
            </a:endParaRPr>
          </a:p>
        </p:txBody>
      </p:sp>
      <p:sp>
        <p:nvSpPr>
          <p:cNvPr id="37894" name="Text Box 14"/>
          <p:cNvSpPr txBox="1">
            <a:spLocks noChangeArrowheads="1"/>
          </p:cNvSpPr>
          <p:nvPr/>
        </p:nvSpPr>
        <p:spPr bwMode="auto">
          <a:xfrm>
            <a:off x="3311525" y="5473700"/>
            <a:ext cx="1320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HUMAN</a:t>
            </a:r>
          </a:p>
        </p:txBody>
      </p:sp>
      <p:sp>
        <p:nvSpPr>
          <p:cNvPr id="37895" name="Text Box 15"/>
          <p:cNvSpPr txBox="1">
            <a:spLocks noChangeArrowheads="1"/>
          </p:cNvSpPr>
          <p:nvPr/>
        </p:nvSpPr>
        <p:spPr bwMode="auto">
          <a:xfrm>
            <a:off x="5884863" y="5461000"/>
            <a:ext cx="1758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RATIONAL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8750"/>
            <a:ext cx="77724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cs typeface="+mj-cs"/>
              </a:rPr>
              <a:t>Systems that think like humans:</a:t>
            </a:r>
            <a:br>
              <a:rPr lang="en-GB">
                <a:cs typeface="+mj-cs"/>
              </a:rPr>
            </a:br>
            <a:r>
              <a:rPr lang="en-GB">
                <a:cs typeface="+mj-cs"/>
              </a:rPr>
              <a:t> </a:t>
            </a:r>
            <a:r>
              <a:rPr lang="en-US">
                <a:cs typeface="+mj-cs"/>
              </a:rPr>
              <a:t>cognitive modeling</a:t>
            </a:r>
            <a:endParaRPr lang="en-GB">
              <a:cs typeface="+mj-cs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98500" y="1579563"/>
            <a:ext cx="7772400" cy="4543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Humans as observed from ‘inside’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How do we know how humans think?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Introspection vs. psychological experiments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Cognitive Science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“The exciting new effort to make computers think … machines with </a:t>
            </a:r>
            <a:r>
              <a:rPr lang="en-GB" altLang="ar-JO" sz="2800" i="1" smtClean="0"/>
              <a:t>minds</a:t>
            </a:r>
            <a:r>
              <a:rPr lang="en-GB" altLang="ar-JO" sz="2800" smtClean="0"/>
              <a:t> in the full and literal sense” (Haugeland)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“[The automation of] activities that we associate with human thinking, activities such as decision-making, problem solving, learning …” (Bellman)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71513" y="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ar-JO" smtClean="0"/>
              <a:t>What is Artificial Intelligence ?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624138" y="1641475"/>
            <a:ext cx="5600700" cy="3773488"/>
            <a:chOff x="1855" y="881"/>
            <a:chExt cx="4220" cy="2642"/>
          </a:xfrm>
        </p:grpSpPr>
        <p:sp>
          <p:nvSpPr>
            <p:cNvPr id="41992" name="Line 4"/>
            <p:cNvSpPr>
              <a:spLocks noChangeShapeType="1"/>
            </p:cNvSpPr>
            <p:nvPr/>
          </p:nvSpPr>
          <p:spPr bwMode="auto">
            <a:xfrm>
              <a:off x="1885" y="2214"/>
              <a:ext cx="41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3" name="Line 5"/>
            <p:cNvSpPr>
              <a:spLocks noChangeShapeType="1"/>
            </p:cNvSpPr>
            <p:nvPr/>
          </p:nvSpPr>
          <p:spPr bwMode="auto">
            <a:xfrm>
              <a:off x="3942" y="889"/>
              <a:ext cx="0" cy="26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855" y="881"/>
              <a:ext cx="4220" cy="2641"/>
              <a:chOff x="1785" y="998"/>
              <a:chExt cx="4220" cy="2641"/>
            </a:xfrm>
          </p:grpSpPr>
          <p:sp>
            <p:nvSpPr>
              <p:cNvPr id="41995" name="Rectangle 7"/>
              <p:cNvSpPr>
                <a:spLocks noChangeArrowheads="1"/>
              </p:cNvSpPr>
              <p:nvPr/>
            </p:nvSpPr>
            <p:spPr bwMode="auto">
              <a:xfrm>
                <a:off x="1823" y="998"/>
                <a:ext cx="4107" cy="264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ar-JO" altLang="ar-JO"/>
              </a:p>
            </p:txBody>
          </p:sp>
          <p:sp>
            <p:nvSpPr>
              <p:cNvPr id="41996" name="Text Box 8"/>
              <p:cNvSpPr txBox="1">
                <a:spLocks noChangeArrowheads="1"/>
              </p:cNvSpPr>
              <p:nvPr/>
            </p:nvSpPr>
            <p:spPr bwMode="auto">
              <a:xfrm>
                <a:off x="3930" y="2664"/>
                <a:ext cx="1965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act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rationally</a:t>
                </a:r>
              </a:p>
            </p:txBody>
          </p:sp>
          <p:sp>
            <p:nvSpPr>
              <p:cNvPr id="41997" name="Text Box 9"/>
              <p:cNvSpPr txBox="1">
                <a:spLocks noChangeArrowheads="1"/>
              </p:cNvSpPr>
              <p:nvPr/>
            </p:nvSpPr>
            <p:spPr bwMode="auto">
              <a:xfrm>
                <a:off x="1785" y="1357"/>
                <a:ext cx="2181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think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like humans</a:t>
                </a:r>
              </a:p>
            </p:txBody>
          </p:sp>
          <p:sp>
            <p:nvSpPr>
              <p:cNvPr id="41998" name="Text Box 10"/>
              <p:cNvSpPr txBox="1">
                <a:spLocks noChangeArrowheads="1"/>
              </p:cNvSpPr>
              <p:nvPr/>
            </p:nvSpPr>
            <p:spPr bwMode="auto">
              <a:xfrm>
                <a:off x="3825" y="1357"/>
                <a:ext cx="2180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  <a:t>Systems that think</a:t>
                </a:r>
                <a:b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</a:br>
                <a: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  <a:t> rationally</a:t>
                </a:r>
                <a:endParaRPr lang="en-GB" altLang="ar-JO" sz="2400" b="1">
                  <a:latin typeface="Arial" pitchFamily="34" charset="0"/>
                </a:endParaRPr>
              </a:p>
            </p:txBody>
          </p:sp>
          <p:sp>
            <p:nvSpPr>
              <p:cNvPr id="41999" name="Text Box 11"/>
              <p:cNvSpPr txBox="1">
                <a:spLocks noChangeArrowheads="1"/>
              </p:cNvSpPr>
              <p:nvPr/>
            </p:nvSpPr>
            <p:spPr bwMode="auto">
              <a:xfrm>
                <a:off x="1850" y="2664"/>
                <a:ext cx="1965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act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like humans</a:t>
                </a:r>
                <a:endParaRPr lang="en-GB" altLang="ar-JO" sz="2400" b="1">
                  <a:solidFill>
                    <a:srgbClr val="E92A25"/>
                  </a:solidFill>
                  <a:latin typeface="Arial" pitchFamily="34" charset="0"/>
                </a:endParaRPr>
              </a:p>
            </p:txBody>
          </p:sp>
        </p:grpSp>
      </p:grpSp>
      <p:sp>
        <p:nvSpPr>
          <p:cNvPr id="41988" name="Text Box 12"/>
          <p:cNvSpPr txBox="1">
            <a:spLocks noChangeArrowheads="1"/>
          </p:cNvSpPr>
          <p:nvPr/>
        </p:nvSpPr>
        <p:spPr bwMode="auto">
          <a:xfrm>
            <a:off x="776288" y="2141538"/>
            <a:ext cx="16906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THOUGHT</a:t>
            </a:r>
            <a:endParaRPr lang="en-GB" altLang="ar-JO" sz="2400">
              <a:latin typeface="Arial" pitchFamily="34" charset="0"/>
            </a:endParaRPr>
          </a:p>
        </p:txBody>
      </p:sp>
      <p:sp>
        <p:nvSpPr>
          <p:cNvPr id="41989" name="Text Box 13"/>
          <p:cNvSpPr txBox="1">
            <a:spLocks noChangeArrowheads="1"/>
          </p:cNvSpPr>
          <p:nvPr/>
        </p:nvSpPr>
        <p:spPr bwMode="auto">
          <a:xfrm>
            <a:off x="708025" y="4332288"/>
            <a:ext cx="2014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BEHAVIOUR</a:t>
            </a:r>
            <a:endParaRPr lang="en-GB" altLang="ar-JO" sz="1800">
              <a:latin typeface="Arial" pitchFamily="34" charset="0"/>
            </a:endParaRPr>
          </a:p>
        </p:txBody>
      </p:sp>
      <p:sp>
        <p:nvSpPr>
          <p:cNvPr id="41990" name="Text Box 14"/>
          <p:cNvSpPr txBox="1">
            <a:spLocks noChangeArrowheads="1"/>
          </p:cNvSpPr>
          <p:nvPr/>
        </p:nvSpPr>
        <p:spPr bwMode="auto">
          <a:xfrm>
            <a:off x="3417888" y="5667375"/>
            <a:ext cx="1320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HUMAN</a:t>
            </a:r>
          </a:p>
        </p:txBody>
      </p:sp>
      <p:sp>
        <p:nvSpPr>
          <p:cNvPr id="41991" name="Text Box 15"/>
          <p:cNvSpPr txBox="1">
            <a:spLocks noChangeArrowheads="1"/>
          </p:cNvSpPr>
          <p:nvPr/>
        </p:nvSpPr>
        <p:spPr bwMode="auto">
          <a:xfrm>
            <a:off x="5991225" y="5654675"/>
            <a:ext cx="1758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RATIONAL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03275" y="171450"/>
            <a:ext cx="77724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cs typeface="+mj-cs"/>
              </a:rPr>
              <a:t>Systems that think ‘rationally’</a:t>
            </a:r>
            <a:br>
              <a:rPr lang="en-GB">
                <a:cs typeface="+mj-cs"/>
              </a:rPr>
            </a:br>
            <a:r>
              <a:rPr lang="en-GB">
                <a:cs typeface="+mj-cs"/>
              </a:rPr>
              <a:t> </a:t>
            </a:r>
            <a:r>
              <a:rPr lang="en-US">
                <a:cs typeface="+mj-cs"/>
              </a:rPr>
              <a:t>"laws of thought"</a:t>
            </a:r>
            <a:endParaRPr lang="en-GB">
              <a:cs typeface="+mj-cs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657350"/>
            <a:ext cx="7772400" cy="4556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Humans are not always ‘rational’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Rational - defined in terms of logic?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Logic can’t express everything (e.g. uncertainty)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Logical approach is often not feasible in terms of computation time (needs ‘guidance’)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“The study of mental facilities through the use of computational models” (Charniak and McDermott)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“The study of the computations that make it possible to perceive, reason, and act” (Winston)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712788" y="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ar-JO" smtClean="0"/>
              <a:t>What is Artificial Intelligence ?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700338" y="1603375"/>
            <a:ext cx="5600700" cy="3773488"/>
            <a:chOff x="1855" y="881"/>
            <a:chExt cx="4220" cy="2642"/>
          </a:xfrm>
        </p:grpSpPr>
        <p:sp>
          <p:nvSpPr>
            <p:cNvPr id="46088" name="Line 4"/>
            <p:cNvSpPr>
              <a:spLocks noChangeShapeType="1"/>
            </p:cNvSpPr>
            <p:nvPr/>
          </p:nvSpPr>
          <p:spPr bwMode="auto">
            <a:xfrm>
              <a:off x="1885" y="2214"/>
              <a:ext cx="41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9" name="Line 5"/>
            <p:cNvSpPr>
              <a:spLocks noChangeShapeType="1"/>
            </p:cNvSpPr>
            <p:nvPr/>
          </p:nvSpPr>
          <p:spPr bwMode="auto">
            <a:xfrm>
              <a:off x="3942" y="889"/>
              <a:ext cx="0" cy="26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855" y="881"/>
              <a:ext cx="4220" cy="2641"/>
              <a:chOff x="1785" y="998"/>
              <a:chExt cx="4220" cy="2641"/>
            </a:xfrm>
          </p:grpSpPr>
          <p:sp>
            <p:nvSpPr>
              <p:cNvPr id="46091" name="Rectangle 7"/>
              <p:cNvSpPr>
                <a:spLocks noChangeArrowheads="1"/>
              </p:cNvSpPr>
              <p:nvPr/>
            </p:nvSpPr>
            <p:spPr bwMode="auto">
              <a:xfrm>
                <a:off x="1823" y="998"/>
                <a:ext cx="4107" cy="264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ar-JO" altLang="ar-JO"/>
              </a:p>
            </p:txBody>
          </p:sp>
          <p:sp>
            <p:nvSpPr>
              <p:cNvPr id="46092" name="Text Box 8"/>
              <p:cNvSpPr txBox="1">
                <a:spLocks noChangeArrowheads="1"/>
              </p:cNvSpPr>
              <p:nvPr/>
            </p:nvSpPr>
            <p:spPr bwMode="auto">
              <a:xfrm>
                <a:off x="3930" y="2664"/>
                <a:ext cx="1965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  <a:t>Systems that act</a:t>
                </a:r>
                <a:b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</a:br>
                <a:r>
                  <a:rPr lang="en-GB" altLang="ar-JO" sz="2400" b="1">
                    <a:solidFill>
                      <a:srgbClr val="E92A25"/>
                    </a:solidFill>
                    <a:latin typeface="Arial" pitchFamily="34" charset="0"/>
                  </a:rPr>
                  <a:t> rationally</a:t>
                </a:r>
                <a:endParaRPr lang="en-GB" altLang="ar-JO" sz="2400" b="1">
                  <a:latin typeface="Arial" pitchFamily="34" charset="0"/>
                </a:endParaRPr>
              </a:p>
            </p:txBody>
          </p:sp>
          <p:sp>
            <p:nvSpPr>
              <p:cNvPr id="46093" name="Text Box 9"/>
              <p:cNvSpPr txBox="1">
                <a:spLocks noChangeArrowheads="1"/>
              </p:cNvSpPr>
              <p:nvPr/>
            </p:nvSpPr>
            <p:spPr bwMode="auto">
              <a:xfrm>
                <a:off x="1785" y="1357"/>
                <a:ext cx="2181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think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like humans</a:t>
                </a:r>
              </a:p>
            </p:txBody>
          </p:sp>
          <p:sp>
            <p:nvSpPr>
              <p:cNvPr id="46094" name="Text Box 10"/>
              <p:cNvSpPr txBox="1">
                <a:spLocks noChangeArrowheads="1"/>
              </p:cNvSpPr>
              <p:nvPr/>
            </p:nvSpPr>
            <p:spPr bwMode="auto">
              <a:xfrm>
                <a:off x="3825" y="1357"/>
                <a:ext cx="2180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think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rationally</a:t>
                </a:r>
              </a:p>
            </p:txBody>
          </p:sp>
          <p:sp>
            <p:nvSpPr>
              <p:cNvPr id="46095" name="Text Box 11"/>
              <p:cNvSpPr txBox="1">
                <a:spLocks noChangeArrowheads="1"/>
              </p:cNvSpPr>
              <p:nvPr/>
            </p:nvSpPr>
            <p:spPr bwMode="auto">
              <a:xfrm>
                <a:off x="1850" y="2664"/>
                <a:ext cx="1965" cy="57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ar-JO" sz="2400" b="1">
                    <a:latin typeface="Arial" pitchFamily="34" charset="0"/>
                  </a:rPr>
                  <a:t>Systems that act</a:t>
                </a:r>
                <a:br>
                  <a:rPr lang="en-GB" altLang="ar-JO" sz="2400" b="1">
                    <a:latin typeface="Arial" pitchFamily="34" charset="0"/>
                  </a:rPr>
                </a:br>
                <a:r>
                  <a:rPr lang="en-GB" altLang="ar-JO" sz="2400" b="1">
                    <a:latin typeface="Arial" pitchFamily="34" charset="0"/>
                  </a:rPr>
                  <a:t> like humans</a:t>
                </a:r>
                <a:endParaRPr lang="en-GB" altLang="ar-JO" sz="2400" b="1">
                  <a:solidFill>
                    <a:srgbClr val="E92A25"/>
                  </a:solidFill>
                  <a:latin typeface="Arial" pitchFamily="34" charset="0"/>
                </a:endParaRPr>
              </a:p>
            </p:txBody>
          </p:sp>
        </p:grpSp>
      </p:grpSp>
      <p:sp>
        <p:nvSpPr>
          <p:cNvPr id="46084" name="Text Box 12"/>
          <p:cNvSpPr txBox="1">
            <a:spLocks noChangeArrowheads="1"/>
          </p:cNvSpPr>
          <p:nvPr/>
        </p:nvSpPr>
        <p:spPr bwMode="auto">
          <a:xfrm>
            <a:off x="852488" y="2103438"/>
            <a:ext cx="16906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THOUGHT</a:t>
            </a:r>
            <a:endParaRPr lang="en-GB" altLang="ar-JO" sz="2400">
              <a:latin typeface="Arial" pitchFamily="34" charset="0"/>
            </a:endParaRPr>
          </a:p>
        </p:txBody>
      </p:sp>
      <p:sp>
        <p:nvSpPr>
          <p:cNvPr id="46085" name="Text Box 13"/>
          <p:cNvSpPr txBox="1">
            <a:spLocks noChangeArrowheads="1"/>
          </p:cNvSpPr>
          <p:nvPr/>
        </p:nvSpPr>
        <p:spPr bwMode="auto">
          <a:xfrm>
            <a:off x="784225" y="4294188"/>
            <a:ext cx="2014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BEHAVIOUR</a:t>
            </a:r>
            <a:endParaRPr lang="en-GB" altLang="ar-JO" sz="1800">
              <a:latin typeface="Arial" pitchFamily="34" charset="0"/>
            </a:endParaRPr>
          </a:p>
        </p:txBody>
      </p:sp>
      <p:sp>
        <p:nvSpPr>
          <p:cNvPr id="46086" name="Text Box 14"/>
          <p:cNvSpPr txBox="1">
            <a:spLocks noChangeArrowheads="1"/>
          </p:cNvSpPr>
          <p:nvPr/>
        </p:nvSpPr>
        <p:spPr bwMode="auto">
          <a:xfrm>
            <a:off x="3494088" y="5629275"/>
            <a:ext cx="1320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HUMAN</a:t>
            </a:r>
          </a:p>
        </p:txBody>
      </p:sp>
      <p:sp>
        <p:nvSpPr>
          <p:cNvPr id="46087" name="Text Box 15"/>
          <p:cNvSpPr txBox="1">
            <a:spLocks noChangeArrowheads="1"/>
          </p:cNvSpPr>
          <p:nvPr/>
        </p:nvSpPr>
        <p:spPr bwMode="auto">
          <a:xfrm>
            <a:off x="6067425" y="5616575"/>
            <a:ext cx="1758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altLang="ar-JO" sz="2400" b="1">
                <a:latin typeface="Arial" pitchFamily="34" charset="0"/>
              </a:rPr>
              <a:t>RATIONAL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0975"/>
            <a:ext cx="7772400" cy="9620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cs typeface="+mj-cs"/>
              </a:rPr>
              <a:t>Systems that act rationally:</a:t>
            </a:r>
            <a:br>
              <a:rPr lang="en-GB">
                <a:cs typeface="+mj-cs"/>
              </a:rPr>
            </a:br>
            <a:r>
              <a:rPr lang="en-GB">
                <a:cs typeface="+mj-cs"/>
              </a:rPr>
              <a:t> “</a:t>
            </a:r>
            <a:r>
              <a:rPr lang="en-US">
                <a:cs typeface="+mj-cs"/>
              </a:rPr>
              <a:t>Rational agent”</a:t>
            </a:r>
            <a:endParaRPr lang="en-GB">
              <a:cs typeface="+mj-cs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447800"/>
            <a:ext cx="7772400" cy="49958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JO" dirty="0" smtClean="0">
                <a:solidFill>
                  <a:srgbClr val="FF0000"/>
                </a:solidFill>
              </a:rPr>
              <a:t>Rational</a:t>
            </a:r>
            <a:r>
              <a:rPr lang="en-US" altLang="ar-JO" dirty="0" smtClean="0"/>
              <a:t> behavior: doing the right thing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JO" dirty="0" smtClean="0">
                <a:solidFill>
                  <a:srgbClr val="FF0000"/>
                </a:solidFill>
              </a:rPr>
              <a:t>The right thing</a:t>
            </a:r>
            <a:r>
              <a:rPr lang="en-US" altLang="ar-JO" dirty="0" smtClean="0"/>
              <a:t>: that which is expected to maximize goal achievement, given the available information</a:t>
            </a:r>
            <a:r>
              <a:rPr lang="en-GB" altLang="ar-JO" dirty="0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dirty="0" smtClean="0"/>
              <a:t>Giving answers to questions is ‘acting’.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dirty="0" smtClean="0"/>
              <a:t>I don't care whether a system: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z="3200" dirty="0" smtClean="0">
                <a:cs typeface="Times New Roman" pitchFamily="18" charset="0"/>
              </a:rPr>
              <a:t>replicates human thought processes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z="3200" dirty="0" smtClean="0">
                <a:cs typeface="Times New Roman" pitchFamily="18" charset="0"/>
              </a:rPr>
              <a:t>makes the same decisions as humans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z="3200" dirty="0" smtClean="0">
                <a:cs typeface="Times New Roman" pitchFamily="18" charset="0"/>
              </a:rPr>
              <a:t>uses purely logical reasoning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ar-JO" smtClean="0"/>
              <a:t>Systems that act rationally</a:t>
            </a:r>
            <a:endParaRPr lang="en-US" altLang="ar-JO" smtClean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z="2800" smtClean="0"/>
              <a:t>Logic </a:t>
            </a:r>
            <a:r>
              <a:rPr lang="en-US" altLang="zh-TW" sz="2800" smtClean="0">
                <a:sym typeface="Wingdings" pitchFamily="2" charset="2"/>
              </a:rPr>
              <a:t> only</a:t>
            </a:r>
            <a:r>
              <a:rPr lang="en-US" altLang="zh-TW" sz="2800" smtClean="0"/>
              <a:t> </a:t>
            </a:r>
            <a:r>
              <a:rPr lang="en-US" altLang="zh-TW" sz="2800" i="1" smtClean="0"/>
              <a:t>part</a:t>
            </a:r>
            <a:r>
              <a:rPr lang="en-US" altLang="zh-TW" sz="2800" smtClean="0"/>
              <a:t> of a rational agent, not </a:t>
            </a:r>
            <a:r>
              <a:rPr lang="en-US" altLang="zh-TW" sz="2800" i="1" smtClean="0"/>
              <a:t>all</a:t>
            </a:r>
            <a:r>
              <a:rPr lang="en-US" altLang="zh-TW" sz="2800" smtClean="0"/>
              <a:t> of rationality </a:t>
            </a:r>
          </a:p>
          <a:p>
            <a:pPr lvl="1" eaLnBrk="1" hangingPunct="1"/>
            <a:r>
              <a:rPr lang="en-US" altLang="zh-TW" smtClean="0"/>
              <a:t>Sometimes logic cannot reason a correct conclusion</a:t>
            </a:r>
          </a:p>
          <a:p>
            <a:pPr lvl="1" eaLnBrk="1" hangingPunct="1"/>
            <a:r>
              <a:rPr lang="en-US" altLang="zh-TW" smtClean="0"/>
              <a:t>At that time, some </a:t>
            </a:r>
            <a:r>
              <a:rPr lang="en-US" altLang="zh-TW" i="1" u="sng" smtClean="0"/>
              <a:t>specific (in domain) human knowledge</a:t>
            </a:r>
            <a:r>
              <a:rPr lang="en-US" altLang="zh-TW" smtClean="0"/>
              <a:t> or information is used</a:t>
            </a:r>
          </a:p>
          <a:p>
            <a:pPr eaLnBrk="1" hangingPunct="1"/>
            <a:r>
              <a:rPr lang="en-US" altLang="zh-TW" sz="2800" smtClean="0"/>
              <a:t>Thus, it covers more generally different situations of problems </a:t>
            </a:r>
          </a:p>
          <a:p>
            <a:pPr lvl="1" eaLnBrk="1" hangingPunct="1"/>
            <a:r>
              <a:rPr lang="en-US" altLang="zh-TW" smtClean="0"/>
              <a:t>Compensate the incorrectly reasoned conclusion</a:t>
            </a:r>
            <a:endParaRPr lang="en-US" altLang="ar-JO" smtClean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ar-JO" smtClean="0"/>
              <a:t>Systems that act rationally</a:t>
            </a:r>
            <a:endParaRPr lang="en-US" altLang="ar-JO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Study AI as rational agent –</a:t>
            </a:r>
          </a:p>
          <a:p>
            <a:pPr eaLnBrk="1" hangingPunct="1">
              <a:buFontTx/>
              <a:buNone/>
            </a:pPr>
            <a:r>
              <a:rPr lang="en-US" altLang="zh-TW" smtClean="0"/>
              <a:t> </a:t>
            </a:r>
            <a:r>
              <a:rPr lang="en-US" altLang="zh-TW" u="sng" smtClean="0"/>
              <a:t>2 advantages:</a:t>
            </a:r>
          </a:p>
          <a:p>
            <a:pPr lvl="1" eaLnBrk="1" hangingPunct="1"/>
            <a:r>
              <a:rPr lang="en-US" altLang="zh-TW" smtClean="0"/>
              <a:t>It is more general than using logic only </a:t>
            </a:r>
          </a:p>
          <a:p>
            <a:pPr lvl="2" eaLnBrk="1" hangingPunct="1"/>
            <a:r>
              <a:rPr lang="en-US" altLang="zh-TW" smtClean="0"/>
              <a:t>Because: LOGIC + Domain knowledge</a:t>
            </a:r>
          </a:p>
          <a:p>
            <a:pPr lvl="1" eaLnBrk="1" hangingPunct="1"/>
            <a:r>
              <a:rPr lang="en-US" altLang="zh-TW" smtClean="0"/>
              <a:t>It allows extension of the approach with more scientific methodologies </a:t>
            </a:r>
          </a:p>
          <a:p>
            <a:pPr eaLnBrk="1" hangingPunct="1"/>
            <a:endParaRPr lang="en-US" altLang="zh-TW" smtClean="0"/>
          </a:p>
          <a:p>
            <a:pPr eaLnBrk="1" hangingPunct="1"/>
            <a:endParaRPr lang="en-US" altLang="ar-JO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ar-JO" smtClean="0"/>
              <a:t>Rational agents</a:t>
            </a:r>
          </a:p>
        </p:txBody>
      </p:sp>
      <p:sp>
        <p:nvSpPr>
          <p:cNvPr id="10035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772400" cy="5105400"/>
          </a:xfrm>
        </p:spPr>
        <p:txBody>
          <a:bodyPr>
            <a:normAutofit fontScale="92500" lnSpcReduction="20000"/>
          </a:bodyPr>
          <a:lstStyle/>
          <a:p>
            <a:pPr marL="274320" indent="-274320" eaLnBrk="1" fontAlgn="auto" hangingPunct="1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>
                <a:cs typeface="+mn-cs"/>
              </a:rPr>
              <a:t>An </a:t>
            </a:r>
            <a:r>
              <a:rPr lang="en-US" sz="2800" dirty="0">
                <a:solidFill>
                  <a:srgbClr val="FF0000"/>
                </a:solidFill>
                <a:cs typeface="+mn-cs"/>
              </a:rPr>
              <a:t>agent</a:t>
            </a:r>
            <a:r>
              <a:rPr lang="en-US" sz="2800" dirty="0">
                <a:cs typeface="+mn-cs"/>
              </a:rPr>
              <a:t> is an entity that perceives and </a:t>
            </a:r>
            <a:r>
              <a:rPr lang="en-US" sz="2800" dirty="0" smtClean="0">
                <a:cs typeface="+mn-cs"/>
              </a:rPr>
              <a:t>acts</a:t>
            </a:r>
          </a:p>
          <a:p>
            <a:pPr marL="274320" indent="-274320" eaLnBrk="1" fontAlgn="auto" hangingPunct="1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None/>
              <a:defRPr/>
            </a:pPr>
            <a:endParaRPr lang="en-US" sz="2800" dirty="0" smtClean="0">
              <a:cs typeface="+mn-cs"/>
            </a:endParaRPr>
          </a:p>
          <a:p>
            <a:pPr marL="274320" indent="-274320" eaLnBrk="1" fontAlgn="auto" hangingPunct="1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cs typeface="+mn-cs"/>
              </a:rPr>
              <a:t>This </a:t>
            </a:r>
            <a:r>
              <a:rPr lang="en-US" sz="2800" dirty="0">
                <a:cs typeface="+mn-cs"/>
              </a:rPr>
              <a:t>course is about designing rational </a:t>
            </a:r>
            <a:r>
              <a:rPr lang="en-US" sz="2800" dirty="0" smtClean="0">
                <a:cs typeface="+mn-cs"/>
              </a:rPr>
              <a:t>agents</a:t>
            </a:r>
          </a:p>
          <a:p>
            <a:pPr marL="274320" indent="-274320" eaLnBrk="1" fontAlgn="auto" hangingPunct="1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2800" dirty="0">
              <a:cs typeface="+mn-cs"/>
            </a:endParaRPr>
          </a:p>
          <a:p>
            <a:pPr marL="274320" indent="-274320" eaLnBrk="1" fontAlgn="auto" hangingPunct="1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>
                <a:cs typeface="+mn-cs"/>
              </a:rPr>
              <a:t>Abstractly, an agent is a function from percept histories to actions:
</a:t>
            </a:r>
          </a:p>
          <a:p>
            <a:pPr marL="274320" indent="-274320" algn="ctr" eaLnBrk="1" fontAlgn="auto" hangingPunct="1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sz="2800" dirty="0">
                <a:cs typeface="+mn-cs"/>
              </a:rPr>
              <a:t>[</a:t>
            </a:r>
            <a:r>
              <a:rPr lang="en-US" sz="2800" i="1" dirty="0">
                <a:cs typeface="+mn-cs"/>
              </a:rPr>
              <a:t>f</a:t>
            </a:r>
            <a:r>
              <a:rPr lang="en-US" sz="2800" dirty="0">
                <a:cs typeface="+mn-cs"/>
              </a:rPr>
              <a:t>: P* </a:t>
            </a:r>
            <a:r>
              <a:rPr lang="en-US" sz="2800" dirty="0">
                <a:cs typeface="+mn-cs"/>
                <a:sym typeface="Wingdings" pitchFamily="2" charset="2"/>
              </a:rPr>
              <a:t></a:t>
            </a:r>
            <a:r>
              <a:rPr lang="en-US" sz="2800" dirty="0">
                <a:cs typeface="+mn-cs"/>
              </a:rPr>
              <a:t> A]
</a:t>
            </a:r>
          </a:p>
          <a:p>
            <a:pPr marL="274320" indent="-274320" eaLnBrk="1" fontAlgn="auto" hangingPunct="1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>
                <a:cs typeface="+mn-cs"/>
              </a:rPr>
              <a:t>For any given class of environments and tasks, we seek the agent (or class of agents) with the best </a:t>
            </a:r>
            <a:r>
              <a:rPr lang="en-US" sz="2800" dirty="0" smtClean="0">
                <a:cs typeface="+mn-cs"/>
              </a:rPr>
              <a:t>performance</a:t>
            </a:r>
          </a:p>
          <a:p>
            <a:pPr marL="274320" indent="-274320" eaLnBrk="1" fontAlgn="auto" hangingPunct="1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2800" dirty="0">
              <a:cs typeface="+mn-cs"/>
            </a:endParaRPr>
          </a:p>
          <a:p>
            <a:pPr marL="274320" indent="-274320" eaLnBrk="1" fontAlgn="auto" hangingPunct="1">
              <a:lnSpc>
                <a:spcPct val="8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>
                <a:cs typeface="+mn-cs"/>
              </a:rPr>
              <a:t>Caveat: computational limitations make perfect rationality unachievable</a:t>
            </a:r>
          </a:p>
          <a:p>
            <a:pPr marL="548640" lvl="1" eaLnBrk="1" fontAlgn="auto" hangingPunct="1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None/>
              <a:defRPr/>
            </a:pPr>
            <a:r>
              <a:rPr lang="en-US" dirty="0">
                <a:cs typeface="+mn-cs"/>
                <a:sym typeface="Wingdings" pitchFamily="2" charset="2"/>
              </a:rPr>
              <a:t> </a:t>
            </a:r>
            <a:r>
              <a:rPr lang="en-US" dirty="0">
                <a:cs typeface="+mn-cs"/>
              </a:rPr>
              <a:t>design best program for given machine </a:t>
            </a:r>
            <a:r>
              <a:rPr lang="en-US" dirty="0" smtClean="0">
                <a:cs typeface="+mn-cs"/>
              </a:rPr>
              <a:t>resources</a:t>
            </a:r>
            <a:endParaRPr lang="en-US" dirty="0"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533400" y="381000"/>
            <a:ext cx="7772400" cy="54102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GB" altLang="ar-JO" sz="2800" smtClean="0"/>
              <a:t>Artificial</a:t>
            </a:r>
          </a:p>
          <a:p>
            <a:pPr lvl="1" eaLnBrk="1" hangingPunct="1"/>
            <a:r>
              <a:rPr lang="en-GB" altLang="ar-JO" smtClean="0">
                <a:cs typeface="Times New Roman" pitchFamily="18" charset="0"/>
              </a:rPr>
              <a:t>Produced by human art or effort, rather than originating naturally.</a:t>
            </a:r>
          </a:p>
          <a:p>
            <a:pPr eaLnBrk="1" hangingPunct="1"/>
            <a:r>
              <a:rPr lang="en-GB" altLang="ar-JO" sz="2800" smtClean="0"/>
              <a:t>Intelligence</a:t>
            </a:r>
          </a:p>
          <a:p>
            <a:pPr eaLnBrk="1" hangingPunct="1"/>
            <a:r>
              <a:rPr lang="en-AU" altLang="ar-JO" sz="2800" smtClean="0"/>
              <a:t>is the ability to acquire knowledge and use it" [Pigford and Baur]</a:t>
            </a:r>
          </a:p>
          <a:p>
            <a:pPr eaLnBrk="1" hangingPunct="1"/>
            <a:r>
              <a:rPr lang="en-US" altLang="ar-JO" sz="2800" b="1" smtClean="0"/>
              <a:t>So AI was defined as:</a:t>
            </a:r>
          </a:p>
          <a:p>
            <a:pPr lvl="1" eaLnBrk="1" hangingPunct="1"/>
            <a:r>
              <a:rPr lang="en-US" altLang="ar-JO" smtClean="0">
                <a:solidFill>
                  <a:srgbClr val="330393"/>
                </a:solidFill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altLang="ar-JO" smtClean="0">
                <a:cs typeface="Times New Roman" pitchFamily="18" charset="0"/>
              </a:rPr>
              <a:t> is the study of ideas that enable computers to be intelligent.</a:t>
            </a:r>
          </a:p>
          <a:p>
            <a:pPr lvl="1" eaLnBrk="1" hangingPunct="1"/>
            <a:r>
              <a:rPr lang="en-US" altLang="ar-JO" smtClean="0">
                <a:solidFill>
                  <a:srgbClr val="330393"/>
                </a:solidFill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altLang="ar-JO" smtClean="0">
                <a:cs typeface="Times New Roman" pitchFamily="18" charset="0"/>
              </a:rPr>
              <a:t> is the part of computer science concerned with design of computer systems that exhibit human intelligence</a:t>
            </a:r>
            <a:r>
              <a:rPr lang="en-GB" altLang="ar-JO" smtClean="0">
                <a:cs typeface="Times New Roman" pitchFamily="18" charset="0"/>
              </a:rPr>
              <a:t>(From the Concise Oxford Dictionary)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ar-JO" smtClean="0"/>
              <a:t>From the above two definitions, we can see that AI has two major roles:</a:t>
            </a:r>
          </a:p>
          <a:p>
            <a:pPr lvl="1" eaLnBrk="1" hangingPunct="1"/>
            <a:r>
              <a:rPr lang="en-US" altLang="ar-JO" smtClean="0">
                <a:cs typeface="Times New Roman" pitchFamily="18" charset="0"/>
              </a:rPr>
              <a:t>Study the intelligent part concerned with humans.</a:t>
            </a:r>
          </a:p>
          <a:p>
            <a:pPr lvl="1" eaLnBrk="1" hangingPunct="1"/>
            <a:r>
              <a:rPr lang="en-US" altLang="ar-JO" smtClean="0">
                <a:cs typeface="Times New Roman" pitchFamily="18" charset="0"/>
              </a:rPr>
              <a:t>Represent those actions using computers.</a:t>
            </a:r>
          </a:p>
          <a:p>
            <a:pPr eaLnBrk="1" hangingPunct="1"/>
            <a:endParaRPr lang="en-US" altLang="ar-JO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Goals of AI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To make computers more useful by letting them take over dangerous or tedious tasks from human</a:t>
            </a:r>
          </a:p>
          <a:p>
            <a:pPr eaLnBrk="1" hangingPunct="1"/>
            <a:r>
              <a:rPr lang="en-US" altLang="ar-JO" smtClean="0"/>
              <a:t>Understand principles of human intelligence </a:t>
            </a:r>
          </a:p>
          <a:p>
            <a:pPr eaLnBrk="1" hangingPunct="1"/>
            <a:endParaRPr lang="en-US" altLang="ar-JO" smtClean="0"/>
          </a:p>
        </p:txBody>
      </p:sp>
      <p:pic>
        <p:nvPicPr>
          <p:cNvPr id="55300" name="Picture 4" descr="AI-logo-cv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4495800"/>
            <a:ext cx="2519363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The Foundation of AI</a:t>
            </a:r>
            <a:endParaRPr lang="en-US" altLang="ar-JO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b="1" i="1" smtClean="0">
                <a:latin typeface="Times New Roman" pitchFamily="18" charset="0"/>
                <a:cs typeface="Times New Roman" pitchFamily="18" charset="0"/>
              </a:rPr>
              <a:t>Philosophy</a:t>
            </a:r>
            <a:endParaRPr lang="en-US" altLang="zh-TW" smtClean="0">
              <a:cs typeface="Times New Roman" pitchFamily="18" charset="0"/>
            </a:endParaRPr>
          </a:p>
          <a:p>
            <a:pPr lvl="1" eaLnBrk="1" hangingPunct="1"/>
            <a:r>
              <a:rPr lang="en-US" altLang="zh-TW" smtClean="0">
                <a:cs typeface="Times New Roman" pitchFamily="18" charset="0"/>
              </a:rPr>
              <a:t>At that time, the study of human intelligence began with no formal expression</a:t>
            </a:r>
          </a:p>
          <a:p>
            <a:pPr lvl="1" eaLnBrk="1" hangingPunct="1"/>
            <a:r>
              <a:rPr lang="en-US" altLang="zh-TW" smtClean="0">
                <a:cs typeface="Times New Roman" pitchFamily="18" charset="0"/>
              </a:rPr>
              <a:t>Initiate the idea of mind as a machine and its internal operations</a:t>
            </a:r>
          </a:p>
          <a:p>
            <a:pPr eaLnBrk="1" hangingPunct="1">
              <a:buFontTx/>
              <a:buNone/>
            </a:pPr>
            <a:endParaRPr lang="zh-TW" altLang="en-US" smtClean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The Foundation of AI</a:t>
            </a:r>
            <a:endParaRPr lang="en-US" altLang="ar-JO" smtClean="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>
                <a:cs typeface="+mn-cs"/>
              </a:rPr>
              <a:t>Mathematics formalizes the three main area of AI: </a:t>
            </a:r>
            <a:r>
              <a:rPr lang="en-US" altLang="zh-TW" i="1">
                <a:cs typeface="+mn-cs"/>
              </a:rPr>
              <a:t>computation</a:t>
            </a:r>
            <a:r>
              <a:rPr lang="en-US" altLang="zh-TW">
                <a:cs typeface="+mn-cs"/>
              </a:rPr>
              <a:t>, </a:t>
            </a:r>
            <a:r>
              <a:rPr lang="en-US" altLang="zh-TW" i="1">
                <a:cs typeface="+mn-cs"/>
              </a:rPr>
              <a:t>logic</a:t>
            </a:r>
            <a:r>
              <a:rPr lang="en-US" altLang="zh-TW">
                <a:cs typeface="+mn-cs"/>
              </a:rPr>
              <a:t>, and </a:t>
            </a:r>
            <a:r>
              <a:rPr lang="en-US" altLang="zh-TW" i="1">
                <a:cs typeface="+mn-cs"/>
              </a:rPr>
              <a:t>probability</a:t>
            </a:r>
            <a:endParaRPr lang="en-US" altLang="zh-TW">
              <a:cs typeface="+mn-cs"/>
            </a:endParaRPr>
          </a:p>
          <a:p>
            <a:pPr marL="548640" lvl="1" eaLnBrk="1" fontAlgn="auto" hangingPunct="1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>
                <a:cs typeface="+mn-cs"/>
              </a:rPr>
              <a:t>Computation leads to analysis of the problems that can be computed </a:t>
            </a:r>
          </a:p>
          <a:p>
            <a:pPr marL="822960" lvl="2" eaLnBrk="1" fontAlgn="auto" hangingPunct="1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Font typeface="Wingdings 2"/>
              <a:buChar char=""/>
              <a:defRPr/>
            </a:pPr>
            <a:r>
              <a:rPr lang="en-US" altLang="zh-TW" i="1">
                <a:cs typeface="+mn-cs"/>
              </a:rPr>
              <a:t>complexity theory</a:t>
            </a:r>
            <a:endParaRPr lang="en-US" altLang="zh-TW">
              <a:cs typeface="+mn-cs"/>
            </a:endParaRPr>
          </a:p>
          <a:p>
            <a:pPr marL="548640" lvl="1" eaLnBrk="1" fontAlgn="auto" hangingPunct="1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>
                <a:cs typeface="+mn-cs"/>
              </a:rPr>
              <a:t>Probability contributes the </a:t>
            </a:r>
            <a:r>
              <a:rPr lang="en-US" altLang="zh-TW" i="1">
                <a:cs typeface="+mn-cs"/>
              </a:rPr>
              <a:t>“degree of belief”</a:t>
            </a:r>
            <a:r>
              <a:rPr lang="en-US" altLang="zh-TW">
                <a:cs typeface="+mn-cs"/>
              </a:rPr>
              <a:t> to handle </a:t>
            </a:r>
            <a:r>
              <a:rPr lang="en-US" altLang="zh-TW" i="1">
                <a:cs typeface="+mn-cs"/>
              </a:rPr>
              <a:t>uncertainty</a:t>
            </a:r>
            <a:r>
              <a:rPr lang="en-US" altLang="zh-TW">
                <a:cs typeface="+mn-cs"/>
              </a:rPr>
              <a:t> in AI</a:t>
            </a:r>
            <a:endParaRPr lang="en-US" altLang="zh-TW">
              <a:effectLst>
                <a:outerShdw blurRad="38100" dist="38100" dir="2700000" algn="tl">
                  <a:srgbClr val="C0C0C0"/>
                </a:outerShdw>
              </a:effectLst>
              <a:cs typeface="+mn-cs"/>
            </a:endParaRPr>
          </a:p>
          <a:p>
            <a:pPr marL="548640" lvl="1" eaLnBrk="1" fontAlgn="auto" hangingPunct="1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i="1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Decision theory</a:t>
            </a:r>
            <a:r>
              <a:rPr lang="en-US" altLang="zh-TW">
                <a:cs typeface="+mn-cs"/>
              </a:rPr>
              <a:t> combines </a:t>
            </a:r>
            <a:r>
              <a:rPr lang="en-US" altLang="zh-TW" i="1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probability theory</a:t>
            </a:r>
            <a:r>
              <a:rPr lang="en-US" altLang="zh-TW">
                <a:cs typeface="+mn-cs"/>
              </a:rPr>
              <a:t> and </a:t>
            </a:r>
            <a:r>
              <a:rPr lang="en-US" altLang="zh-TW" i="1"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utility theory</a:t>
            </a:r>
            <a:r>
              <a:rPr lang="en-US" altLang="zh-TW">
                <a:cs typeface="+mn-cs"/>
              </a:rPr>
              <a:t> (bias) </a:t>
            </a:r>
            <a:endParaRPr lang="zh-TW" altLang="en-US">
              <a:cs typeface="+mn-cs"/>
            </a:endParaRP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The Foundation of AI</a:t>
            </a:r>
            <a:endParaRPr lang="en-US" altLang="ar-JO" smtClean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Psychology </a:t>
            </a:r>
          </a:p>
          <a:p>
            <a:pPr lvl="1" eaLnBrk="1" hangingPunct="1"/>
            <a:r>
              <a:rPr lang="en-US" altLang="zh-TW" smtClean="0"/>
              <a:t>How do humans think and act?</a:t>
            </a:r>
          </a:p>
          <a:p>
            <a:pPr lvl="1" eaLnBrk="1" hangingPunct="1"/>
            <a:r>
              <a:rPr lang="en-US" altLang="zh-TW" smtClean="0"/>
              <a:t>The study of human reasoning and acting</a:t>
            </a:r>
          </a:p>
          <a:p>
            <a:pPr lvl="1" eaLnBrk="1" hangingPunct="1"/>
            <a:r>
              <a:rPr lang="en-US" altLang="zh-TW" smtClean="0"/>
              <a:t>Provides reasoning models for AI</a:t>
            </a:r>
          </a:p>
          <a:p>
            <a:pPr lvl="1" eaLnBrk="1" hangingPunct="1"/>
            <a:r>
              <a:rPr lang="en-US" altLang="zh-TW" smtClean="0"/>
              <a:t>Strengthen the ideas </a:t>
            </a:r>
          </a:p>
          <a:p>
            <a:pPr lvl="2" eaLnBrk="1" hangingPunct="1"/>
            <a:r>
              <a:rPr lang="en-US" altLang="zh-TW" smtClean="0"/>
              <a:t>humans and other animals can be considered as information processing machines </a:t>
            </a:r>
            <a:endParaRPr lang="zh-TW" altLang="en-US" smtClean="0"/>
          </a:p>
          <a:p>
            <a:pPr eaLnBrk="1" hangingPunct="1"/>
            <a:endParaRPr lang="en-US" altLang="ar-JO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The Foundation of AI</a:t>
            </a:r>
            <a:endParaRPr lang="en-US" altLang="ar-JO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Computer Engineering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How to build an efficient computer?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Provides the artifact that makes AI application possible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The power of computer makes computation of large and difficult problems more easily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AI has also contributed its own work to computer science, including: time-sharing, the linked list data type, OOP, etc. </a:t>
            </a:r>
            <a:endParaRPr lang="zh-TW" altLang="en-US" smtClean="0"/>
          </a:p>
          <a:p>
            <a:pPr eaLnBrk="1" hangingPunct="1">
              <a:lnSpc>
                <a:spcPct val="90000"/>
              </a:lnSpc>
            </a:pPr>
            <a:endParaRPr lang="en-US" altLang="ar-JO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The Foundation of AI</a:t>
            </a:r>
            <a:endParaRPr lang="en-US" altLang="ar-JO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z="2800" b="1" smtClean="0"/>
              <a:t>Control theory and Cybernetics</a:t>
            </a:r>
          </a:p>
          <a:p>
            <a:pPr lvl="1" eaLnBrk="1" hangingPunct="1"/>
            <a:r>
              <a:rPr lang="en-US" altLang="zh-TW" smtClean="0"/>
              <a:t>How can artifacts operate under their own control?</a:t>
            </a:r>
          </a:p>
          <a:p>
            <a:pPr lvl="1" eaLnBrk="1" hangingPunct="1"/>
            <a:r>
              <a:rPr lang="en-US" altLang="zh-TW" smtClean="0"/>
              <a:t>The artifacts adjust their actions</a:t>
            </a:r>
          </a:p>
          <a:p>
            <a:pPr lvl="2" eaLnBrk="1" hangingPunct="1"/>
            <a:r>
              <a:rPr lang="en-US" altLang="zh-TW" smtClean="0"/>
              <a:t>To do better for the environment over time</a:t>
            </a:r>
          </a:p>
          <a:p>
            <a:pPr lvl="2" eaLnBrk="1" hangingPunct="1"/>
            <a:r>
              <a:rPr lang="en-US" altLang="zh-TW" smtClean="0"/>
              <a:t>Based on an objective function and feedback from the environment</a:t>
            </a:r>
          </a:p>
          <a:p>
            <a:pPr lvl="1" eaLnBrk="1" hangingPunct="1"/>
            <a:r>
              <a:rPr lang="en-US" altLang="zh-TW" smtClean="0"/>
              <a:t>Not limited only to linear systems but also other problems </a:t>
            </a:r>
          </a:p>
          <a:p>
            <a:pPr lvl="2" eaLnBrk="1" hangingPunct="1"/>
            <a:r>
              <a:rPr lang="en-US" altLang="zh-TW" smtClean="0"/>
              <a:t>as language, vision, and planning, etc.</a:t>
            </a:r>
          </a:p>
          <a:p>
            <a:pPr eaLnBrk="1" hangingPunct="1"/>
            <a:endParaRPr lang="en-US" altLang="ar-JO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The Foundation of AI</a:t>
            </a:r>
            <a:endParaRPr lang="en-US" altLang="ar-JO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Linguistics </a:t>
            </a:r>
          </a:p>
          <a:p>
            <a:pPr lvl="1" eaLnBrk="1" hangingPunct="1"/>
            <a:r>
              <a:rPr lang="en-US" altLang="zh-TW" smtClean="0"/>
              <a:t>For understanding natural languages </a:t>
            </a:r>
          </a:p>
          <a:p>
            <a:pPr lvl="2" eaLnBrk="1" hangingPunct="1"/>
            <a:r>
              <a:rPr lang="en-US" altLang="zh-TW" smtClean="0"/>
              <a:t>different approaches has been adopted from the linguistic work</a:t>
            </a:r>
          </a:p>
          <a:p>
            <a:pPr lvl="1" eaLnBrk="1" hangingPunct="1"/>
            <a:r>
              <a:rPr lang="en-US" altLang="zh-TW" smtClean="0"/>
              <a:t>Formal languages</a:t>
            </a:r>
          </a:p>
          <a:p>
            <a:pPr lvl="1" eaLnBrk="1" hangingPunct="1"/>
            <a:r>
              <a:rPr lang="en-US" altLang="zh-TW" smtClean="0"/>
              <a:t>Syntactic and semantic analysis</a:t>
            </a:r>
          </a:p>
          <a:p>
            <a:pPr lvl="1" eaLnBrk="1" hangingPunct="1"/>
            <a:r>
              <a:rPr lang="en-US" altLang="zh-TW" smtClean="0"/>
              <a:t>Knowledge representation </a:t>
            </a:r>
            <a:endParaRPr lang="zh-TW" altLang="en-US" smtClean="0"/>
          </a:p>
          <a:p>
            <a:pPr eaLnBrk="1" hangingPunct="1"/>
            <a:endParaRPr lang="en-US" altLang="ar-JO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58813" y="288925"/>
            <a:ext cx="7772400" cy="114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GB" altLang="ar-JO" smtClean="0"/>
              <a:t>The main topics in AI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7513" y="1550988"/>
            <a:ext cx="8161337" cy="46101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ar-JO" sz="2400" smtClean="0"/>
              <a:t>	Artificial intelligence can be considered under a number of headings: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Search (includes Game Playing).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Representing  Knowledge and Reasoning with it.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Planning.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Learning.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ar-JO" smtClean="0">
                <a:cs typeface="Times New Roman" pitchFamily="18" charset="0"/>
              </a:rPr>
              <a:t>Natural language processing.</a:t>
            </a:r>
            <a:endParaRPr lang="en-GB" altLang="ar-JO" smtClean="0">
              <a:cs typeface="Times New Roman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Expert Systems.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solidFill>
                  <a:schemeClr val="hlink"/>
                </a:solidFill>
                <a:cs typeface="Times New Roman" pitchFamily="18" charset="0"/>
              </a:rPr>
              <a:t>Interacting with the Environment </a:t>
            </a:r>
            <a:br>
              <a:rPr lang="en-GB" altLang="ar-JO" smtClean="0">
                <a:solidFill>
                  <a:schemeClr val="hlink"/>
                </a:solidFill>
                <a:cs typeface="Times New Roman" pitchFamily="18" charset="0"/>
              </a:rPr>
            </a:br>
            <a:r>
              <a:rPr lang="en-GB" altLang="ar-JO" smtClean="0">
                <a:solidFill>
                  <a:schemeClr val="hlink"/>
                </a:solidFill>
                <a:cs typeface="Times New Roman" pitchFamily="18" charset="0"/>
              </a:rPr>
              <a:t>		(e.g. Vision, Speech recognition, Robotics)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altLang="ar-JO" sz="2400" smtClean="0"/>
              <a:t>	</a:t>
            </a:r>
            <a:r>
              <a:rPr lang="en-GB" altLang="ar-JO" sz="1800" i="1" smtClean="0"/>
              <a:t>We won’t have time in this course to consider all of these.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2057400"/>
            <a:ext cx="8229600" cy="4572000"/>
          </a:xfrm>
        </p:spPr>
        <p:txBody>
          <a:bodyPr/>
          <a:lstStyle/>
          <a:p>
            <a:pPr lvl="1" eaLnBrk="1" hangingPunct="1"/>
            <a:r>
              <a:rPr lang="en-AU" altLang="ar-JO" smtClean="0">
                <a:cs typeface="Times New Roman" pitchFamily="18" charset="0"/>
              </a:rPr>
              <a:t>more powerful and more useful computers</a:t>
            </a:r>
          </a:p>
          <a:p>
            <a:pPr lvl="1" eaLnBrk="1" hangingPunct="1"/>
            <a:r>
              <a:rPr lang="en-AU" altLang="ar-JO" smtClean="0">
                <a:cs typeface="Times New Roman" pitchFamily="18" charset="0"/>
              </a:rPr>
              <a:t>new and improved interfaces</a:t>
            </a:r>
          </a:p>
          <a:p>
            <a:pPr lvl="1" eaLnBrk="1" hangingPunct="1"/>
            <a:r>
              <a:rPr lang="en-AU" altLang="ar-JO" smtClean="0">
                <a:cs typeface="Times New Roman" pitchFamily="18" charset="0"/>
              </a:rPr>
              <a:t>solving new problems</a:t>
            </a:r>
          </a:p>
          <a:p>
            <a:pPr lvl="1" eaLnBrk="1" hangingPunct="1"/>
            <a:r>
              <a:rPr lang="en-AU" altLang="ar-JO" smtClean="0">
                <a:cs typeface="Times New Roman" pitchFamily="18" charset="0"/>
              </a:rPr>
              <a:t>better handling of information</a:t>
            </a:r>
          </a:p>
          <a:p>
            <a:pPr lvl="1" eaLnBrk="1" hangingPunct="1"/>
            <a:r>
              <a:rPr lang="en-AU" altLang="ar-JO" smtClean="0">
                <a:cs typeface="Times New Roman" pitchFamily="18" charset="0"/>
              </a:rPr>
              <a:t>relieves information overload</a:t>
            </a:r>
          </a:p>
          <a:p>
            <a:pPr lvl="1" eaLnBrk="1" hangingPunct="1"/>
            <a:r>
              <a:rPr lang="en-AU" altLang="ar-JO" smtClean="0">
                <a:cs typeface="Times New Roman" pitchFamily="18" charset="0"/>
              </a:rPr>
              <a:t>conversion of information into knowledge</a:t>
            </a:r>
          </a:p>
          <a:p>
            <a:pPr lvl="1" eaLnBrk="1" hangingPunct="1">
              <a:buFontTx/>
              <a:buNone/>
            </a:pPr>
            <a:r>
              <a:rPr lang="en-AU" altLang="ar-JO" smtClean="0">
                <a:cs typeface="Times New Roman" pitchFamily="18" charset="0"/>
              </a:rPr>
              <a:t/>
            </a:r>
            <a:br>
              <a:rPr lang="en-AU" altLang="ar-JO" smtClean="0">
                <a:cs typeface="Times New Roman" pitchFamily="18" charset="0"/>
              </a:rPr>
            </a:br>
            <a:r>
              <a:rPr lang="en-AU" altLang="ar-JO" smtClean="0">
                <a:cs typeface="Times New Roman" pitchFamily="18" charset="0"/>
              </a:rPr>
              <a:t/>
            </a:r>
            <a:br>
              <a:rPr lang="en-AU" altLang="ar-JO" smtClean="0">
                <a:cs typeface="Times New Roman" pitchFamily="18" charset="0"/>
              </a:rPr>
            </a:br>
            <a:endParaRPr lang="en-US" altLang="ar-JO" smtClean="0">
              <a:cs typeface="Times New Roman" pitchFamily="18" charset="0"/>
            </a:endParaRPr>
          </a:p>
        </p:txBody>
      </p:sp>
      <p:sp>
        <p:nvSpPr>
          <p:cNvPr id="97291" name="Rectangle 11"/>
          <p:cNvSpPr>
            <a:spLocks noChangeArrowheads="1"/>
          </p:cNvSpPr>
          <p:nvPr/>
        </p:nvSpPr>
        <p:spPr bwMode="auto">
          <a:xfrm>
            <a:off x="1066800" y="304800"/>
            <a:ext cx="70104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AU" sz="3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Some Advantages of Artificial Intelligence</a:t>
            </a:r>
          </a:p>
          <a:p>
            <a:pPr>
              <a:defRPr/>
            </a:pPr>
            <a:endParaRPr lang="en-US" sz="360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ar-JO" smtClean="0">
                <a:solidFill>
                  <a:srgbClr val="FF0000"/>
                </a:solidFill>
              </a:rPr>
              <a:t>The Disadvantages</a:t>
            </a:r>
            <a:endParaRPr lang="en-US" altLang="ar-JO" smtClean="0">
              <a:solidFill>
                <a:srgbClr val="FF0000"/>
              </a:solidFill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8077200" cy="4572000"/>
          </a:xfrm>
        </p:spPr>
        <p:txBody>
          <a:bodyPr/>
          <a:lstStyle/>
          <a:p>
            <a:pPr lvl="1" eaLnBrk="1" hangingPunct="1"/>
            <a:r>
              <a:rPr lang="en-AU" altLang="ar-JO" smtClean="0">
                <a:cs typeface="Times New Roman" pitchFamily="18" charset="0"/>
              </a:rPr>
              <a:t>increased costs</a:t>
            </a:r>
          </a:p>
          <a:p>
            <a:pPr lvl="1" eaLnBrk="1" hangingPunct="1"/>
            <a:r>
              <a:rPr lang="en-AU" altLang="ar-JO" smtClean="0">
                <a:cs typeface="Times New Roman" pitchFamily="18" charset="0"/>
              </a:rPr>
              <a:t>difficulty with software development - slow and expensive</a:t>
            </a:r>
          </a:p>
          <a:p>
            <a:pPr lvl="1" eaLnBrk="1" hangingPunct="1"/>
            <a:r>
              <a:rPr lang="en-AU" altLang="ar-JO" smtClean="0">
                <a:cs typeface="Times New Roman" pitchFamily="18" charset="0"/>
              </a:rPr>
              <a:t>few experienced programmers</a:t>
            </a:r>
          </a:p>
          <a:p>
            <a:pPr lvl="1" eaLnBrk="1" hangingPunct="1"/>
            <a:r>
              <a:rPr lang="en-AU" altLang="ar-JO" smtClean="0">
                <a:cs typeface="Times New Roman" pitchFamily="18" charset="0"/>
              </a:rPr>
              <a:t>few practical products have reached the market as yet. </a:t>
            </a:r>
            <a:br>
              <a:rPr lang="en-AU" altLang="ar-JO" smtClean="0">
                <a:cs typeface="Times New Roman" pitchFamily="18" charset="0"/>
              </a:rPr>
            </a:br>
            <a:endParaRPr lang="en-US" altLang="ar-JO" smtClean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0"/>
            <a:ext cx="7772400" cy="114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GB" altLang="ar-JO" smtClean="0"/>
              <a:t>Search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00100" y="990600"/>
            <a:ext cx="815975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ar-JO" sz="2400" i="1" smtClean="0"/>
              <a:t>Search</a:t>
            </a:r>
            <a:r>
              <a:rPr lang="en-GB" altLang="ar-JO" sz="2400" smtClean="0"/>
              <a:t> is </a:t>
            </a:r>
            <a:r>
              <a:rPr lang="en-GB" altLang="ar-JO" sz="2400" u="sng" smtClean="0"/>
              <a:t>the fundamental</a:t>
            </a:r>
            <a:r>
              <a:rPr lang="en-GB" altLang="ar-JO" sz="2400" smtClean="0"/>
              <a:t> technique of AI.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z="2000" smtClean="0">
                <a:cs typeface="Times New Roman" pitchFamily="18" charset="0"/>
              </a:rPr>
              <a:t>Possible answers, decisions or courses of action are structured into an abstract space, which we then search.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400" smtClean="0"/>
              <a:t>Search is either "blind" or “uninformed":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blind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we move through the space without worrying about what is coming next, but recognising the answer if we see it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informed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we guess what is ahead, and use that information to decide where to look next.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000" smtClean="0"/>
              <a:t>We may want to search for the first answer that satisfies our goal, or we may want to keep searching until we find the best answer</a:t>
            </a:r>
            <a:r>
              <a:rPr lang="en-GB" altLang="ar-JO" sz="2400" smtClean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GB" altLang="ar-JO" sz="1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0500"/>
            <a:ext cx="9144000" cy="1143000"/>
          </a:xfrm>
        </p:spPr>
        <p:txBody>
          <a:bodyPr lIns="90488" tIns="44450" rIns="90488" bIns="4445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4300" dirty="0">
                <a:cs typeface="+mj-cs"/>
              </a:rPr>
              <a:t>Knowledge Representation &amp; Reasoning</a:t>
            </a:r>
            <a:endParaRPr lang="en-GB" dirty="0">
              <a:cs typeface="+mj-cs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5138" y="1358900"/>
            <a:ext cx="8161337" cy="51673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GB" altLang="ar-JO" sz="2000" smtClean="0"/>
              <a:t>The </a:t>
            </a:r>
            <a:r>
              <a:rPr lang="en-GB" altLang="ar-JO" sz="2000" u="sng" smtClean="0"/>
              <a:t>second</a:t>
            </a:r>
            <a:r>
              <a:rPr lang="en-GB" altLang="ar-JO" sz="2000" smtClean="0"/>
              <a:t> most important concept in AI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ar-JO" sz="2000" smtClean="0"/>
              <a:t>If we are going to act rationally in our environment, then we must have some way of describing that environment and drawing inferences from that representation.</a:t>
            </a:r>
          </a:p>
          <a:p>
            <a:pPr lvl="1" eaLnBrk="1" hangingPunct="1">
              <a:lnSpc>
                <a:spcPct val="110000"/>
              </a:lnSpc>
            </a:pPr>
            <a:r>
              <a:rPr lang="en-GB" altLang="ar-JO" sz="2000" smtClean="0">
                <a:cs typeface="Times New Roman" pitchFamily="18" charset="0"/>
              </a:rPr>
              <a:t>how do we describe what we know about the world ?</a:t>
            </a:r>
          </a:p>
          <a:p>
            <a:pPr lvl="1" eaLnBrk="1" hangingPunct="1">
              <a:lnSpc>
                <a:spcPct val="110000"/>
              </a:lnSpc>
            </a:pPr>
            <a:r>
              <a:rPr lang="en-GB" altLang="ar-JO" sz="2000" smtClean="0">
                <a:cs typeface="Times New Roman" pitchFamily="18" charset="0"/>
              </a:rPr>
              <a:t>how do we describe it </a:t>
            </a:r>
            <a:r>
              <a:rPr lang="en-GB" altLang="ar-JO" sz="2000" i="1" smtClean="0">
                <a:cs typeface="Times New Roman" pitchFamily="18" charset="0"/>
              </a:rPr>
              <a:t>concisely</a:t>
            </a:r>
            <a:r>
              <a:rPr lang="en-GB" altLang="ar-JO" sz="2000" smtClean="0">
                <a:cs typeface="Times New Roman" pitchFamily="18" charset="0"/>
              </a:rPr>
              <a:t> ?</a:t>
            </a:r>
          </a:p>
          <a:p>
            <a:pPr lvl="1" eaLnBrk="1" hangingPunct="1">
              <a:lnSpc>
                <a:spcPct val="110000"/>
              </a:lnSpc>
            </a:pPr>
            <a:r>
              <a:rPr lang="en-GB" altLang="ar-JO" sz="2000" smtClean="0">
                <a:cs typeface="Times New Roman" pitchFamily="18" charset="0"/>
              </a:rPr>
              <a:t>how do we describe it so that we can get hold of the right piece of knowledge when we need it ? </a:t>
            </a:r>
          </a:p>
          <a:p>
            <a:pPr lvl="1" eaLnBrk="1" hangingPunct="1">
              <a:lnSpc>
                <a:spcPct val="110000"/>
              </a:lnSpc>
            </a:pPr>
            <a:r>
              <a:rPr lang="en-GB" altLang="ar-JO" sz="2000" smtClean="0">
                <a:cs typeface="Times New Roman" pitchFamily="18" charset="0"/>
              </a:rPr>
              <a:t>how do we generate new pieces of knowledge ?</a:t>
            </a:r>
          </a:p>
          <a:p>
            <a:pPr lvl="1" eaLnBrk="1" hangingPunct="1">
              <a:lnSpc>
                <a:spcPct val="110000"/>
              </a:lnSpc>
            </a:pPr>
            <a:r>
              <a:rPr lang="en-GB" altLang="ar-JO" sz="2000" smtClean="0">
                <a:cs typeface="Times New Roman" pitchFamily="18" charset="0"/>
              </a:rPr>
              <a:t>how do we deal with </a:t>
            </a:r>
            <a:r>
              <a:rPr lang="en-GB" altLang="ar-JO" sz="2000" i="1" smtClean="0">
                <a:cs typeface="Times New Roman" pitchFamily="18" charset="0"/>
              </a:rPr>
              <a:t>uncertain</a:t>
            </a:r>
            <a:r>
              <a:rPr lang="en-GB" altLang="ar-JO" sz="2000" smtClean="0">
                <a:cs typeface="Times New Roman" pitchFamily="18" charset="0"/>
              </a:rPr>
              <a:t> knowledge 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bldLvl="2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10"/>
          <p:cNvSpPr txBox="1">
            <a:spLocks noChangeArrowheads="1"/>
          </p:cNvSpPr>
          <p:nvPr/>
        </p:nvSpPr>
        <p:spPr bwMode="auto">
          <a:xfrm>
            <a:off x="3124200" y="1143000"/>
            <a:ext cx="2286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Knowledge</a:t>
            </a:r>
          </a:p>
        </p:txBody>
      </p:sp>
      <p:sp>
        <p:nvSpPr>
          <p:cNvPr id="70659" name="Line 11"/>
          <p:cNvSpPr>
            <a:spLocks noChangeShapeType="1"/>
          </p:cNvSpPr>
          <p:nvPr/>
        </p:nvSpPr>
        <p:spPr bwMode="auto">
          <a:xfrm flipH="1">
            <a:off x="2743200" y="1600200"/>
            <a:ext cx="12192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0660" name="Line 12"/>
          <p:cNvSpPr>
            <a:spLocks noChangeShapeType="1"/>
          </p:cNvSpPr>
          <p:nvPr/>
        </p:nvSpPr>
        <p:spPr bwMode="auto">
          <a:xfrm>
            <a:off x="3962400" y="1600200"/>
            <a:ext cx="990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0661" name="Text Box 13"/>
          <p:cNvSpPr txBox="1">
            <a:spLocks noChangeArrowheads="1"/>
          </p:cNvSpPr>
          <p:nvPr/>
        </p:nvSpPr>
        <p:spPr bwMode="auto">
          <a:xfrm>
            <a:off x="1816100" y="3352800"/>
            <a:ext cx="2133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Declarative</a:t>
            </a:r>
          </a:p>
        </p:txBody>
      </p:sp>
      <p:sp>
        <p:nvSpPr>
          <p:cNvPr id="70662" name="Text Box 14"/>
          <p:cNvSpPr txBox="1">
            <a:spLocks noChangeArrowheads="1"/>
          </p:cNvSpPr>
          <p:nvPr/>
        </p:nvSpPr>
        <p:spPr bwMode="auto">
          <a:xfrm>
            <a:off x="4267200" y="3276600"/>
            <a:ext cx="2667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ar-JO">
                <a:latin typeface="Times New Roman" pitchFamily="18" charset="0"/>
              </a:rPr>
              <a:t>Procedural</a:t>
            </a:r>
          </a:p>
        </p:txBody>
      </p:sp>
      <p:sp>
        <p:nvSpPr>
          <p:cNvPr id="70663" name="Text Box 15"/>
          <p:cNvSpPr txBox="1">
            <a:spLocks noChangeArrowheads="1"/>
          </p:cNvSpPr>
          <p:nvPr/>
        </p:nvSpPr>
        <p:spPr bwMode="auto">
          <a:xfrm>
            <a:off x="381000" y="3886200"/>
            <a:ext cx="8001000" cy="265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ar-JO">
                <a:latin typeface="Times New Roman" pitchFamily="18" charset="0"/>
              </a:rPr>
              <a:t> Declarative knowledge deals with factoid questions (what is the capital of India? Etc.)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ar-JO">
                <a:latin typeface="Times New Roman" pitchFamily="18" charset="0"/>
              </a:rPr>
              <a:t> Procedural knowledge deals with “How”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ar-JO">
                <a:latin typeface="Times New Roman" pitchFamily="18" charset="0"/>
              </a:rPr>
              <a:t> Procedural knowledge can be embedded in   declarative knowledge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190500"/>
            <a:ext cx="9144000" cy="1143000"/>
          </a:xfrm>
          <a:prstGeom prst="rect">
            <a:avLst/>
          </a:prstGeom>
        </p:spPr>
        <p:txBody>
          <a:bodyPr lIns="90488" tIns="44450" rIns="90488" bIns="4445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Knowledge Representation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33413" y="207963"/>
            <a:ext cx="7772400" cy="935037"/>
          </a:xfrm>
        </p:spPr>
        <p:txBody>
          <a:bodyPr/>
          <a:lstStyle/>
          <a:p>
            <a:pPr eaLnBrk="1" hangingPunct="1"/>
            <a:r>
              <a:rPr lang="en-GB" altLang="ar-JO" smtClean="0"/>
              <a:t>Planning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98500" y="1476375"/>
            <a:ext cx="7737475" cy="5051425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GB" altLang="ar-JO" sz="2400" dirty="0" smtClean="0"/>
              <a:t>	Given a set of goals, construct a sequence of actions that achieves those goals:</a:t>
            </a:r>
          </a:p>
          <a:p>
            <a:pPr lvl="1" eaLnBrk="1" hangingPunct="1"/>
            <a:r>
              <a:rPr lang="en-GB" altLang="ar-JO" sz="2400" dirty="0" smtClean="0">
                <a:cs typeface="Times New Roman" pitchFamily="18" charset="0"/>
              </a:rPr>
              <a:t>often very large search space</a:t>
            </a:r>
          </a:p>
          <a:p>
            <a:pPr lvl="1" eaLnBrk="1" hangingPunct="1"/>
            <a:r>
              <a:rPr lang="en-GB" altLang="ar-JO" sz="2400" dirty="0" smtClean="0">
                <a:cs typeface="Times New Roman" pitchFamily="18" charset="0"/>
              </a:rPr>
              <a:t>but most parts of the world are independent of most other parts</a:t>
            </a:r>
          </a:p>
          <a:p>
            <a:pPr lvl="1" eaLnBrk="1" hangingPunct="1"/>
            <a:r>
              <a:rPr lang="en-GB" altLang="ar-JO" sz="2400" dirty="0" smtClean="0">
                <a:cs typeface="Times New Roman" pitchFamily="18" charset="0"/>
              </a:rPr>
              <a:t>often start with goals and connect them to actions</a:t>
            </a:r>
          </a:p>
          <a:p>
            <a:pPr lvl="1" eaLnBrk="1" hangingPunct="1"/>
            <a:r>
              <a:rPr lang="en-GB" altLang="ar-JO" sz="2400" dirty="0" smtClean="0">
                <a:cs typeface="Times New Roman" pitchFamily="18" charset="0"/>
              </a:rPr>
              <a:t>no necessary connection between order of planning and order of execution</a:t>
            </a:r>
          </a:p>
          <a:p>
            <a:pPr lvl="1" eaLnBrk="1" hangingPunct="1"/>
            <a:r>
              <a:rPr lang="en-GB" altLang="ar-JO" sz="2400" dirty="0" smtClean="0">
                <a:cs typeface="Times New Roman" pitchFamily="18" charset="0"/>
              </a:rPr>
              <a:t>what happens if the world changes as we execute the plan and/or our actions don’t produce the expected results?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bldLvl="2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5" y="207963"/>
            <a:ext cx="7772400" cy="935037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GB" altLang="ar-JO" smtClean="0"/>
              <a:t>Learning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06525"/>
            <a:ext cx="8161338" cy="4959350"/>
          </a:xfrm>
        </p:spPr>
        <p:txBody>
          <a:bodyPr/>
          <a:lstStyle/>
          <a:p>
            <a:pPr eaLnBrk="1" hangingPunct="1"/>
            <a:r>
              <a:rPr lang="en-GB" altLang="ar-JO" smtClean="0"/>
              <a:t>If a system is going to act truly appropriately, then it must be able to change its actions in the light of experience:</a:t>
            </a:r>
          </a:p>
          <a:p>
            <a:pPr lvl="1" eaLnBrk="1" hangingPunct="1"/>
            <a:r>
              <a:rPr lang="en-GB" altLang="ar-JO" sz="3200" smtClean="0">
                <a:cs typeface="Times New Roman" pitchFamily="18" charset="0"/>
              </a:rPr>
              <a:t>how do we generate new facts from old ?</a:t>
            </a:r>
          </a:p>
          <a:p>
            <a:pPr lvl="1" eaLnBrk="1" hangingPunct="1"/>
            <a:r>
              <a:rPr lang="en-GB" altLang="ar-JO" sz="3200" smtClean="0">
                <a:cs typeface="Times New Roman" pitchFamily="18" charset="0"/>
              </a:rPr>
              <a:t>how do we generate new concepts ?</a:t>
            </a:r>
          </a:p>
          <a:p>
            <a:pPr lvl="1" eaLnBrk="1" hangingPunct="1"/>
            <a:r>
              <a:rPr lang="en-GB" altLang="ar-JO" sz="3200" smtClean="0">
                <a:cs typeface="Times New Roman" pitchFamily="18" charset="0"/>
              </a:rPr>
              <a:t>how do we learn to distinguish different situations in new environments ?</a:t>
            </a:r>
            <a:endParaRPr lang="en-GB" altLang="ar-JO" smtClean="0"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bldLvl="2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33413" y="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ar-JO" smtClean="0"/>
              <a:t>Interacting with the Environment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371600"/>
            <a:ext cx="7772400" cy="50212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ar-JO" sz="2800" dirty="0" smtClean="0"/>
              <a:t>In order to enable intelligent behaviour, we will have to interact with our environment.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dirty="0" smtClean="0"/>
              <a:t>Properly intelligent systems may be expected to: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dirty="0" smtClean="0">
                <a:cs typeface="Times New Roman" pitchFamily="18" charset="0"/>
              </a:rPr>
              <a:t>accept sensory input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z="2400" dirty="0" smtClean="0">
                <a:cs typeface="Times New Roman" pitchFamily="18" charset="0"/>
              </a:rPr>
              <a:t>vision, sound, …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dirty="0" smtClean="0">
                <a:cs typeface="Times New Roman" pitchFamily="18" charset="0"/>
              </a:rPr>
              <a:t>interact with humans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z="2400" dirty="0" smtClean="0">
                <a:cs typeface="Times New Roman" pitchFamily="18" charset="0"/>
              </a:rPr>
              <a:t>understand language, recognise speech, </a:t>
            </a:r>
            <a:br>
              <a:rPr lang="en-GB" altLang="ar-JO" sz="2400" dirty="0" smtClean="0">
                <a:cs typeface="Times New Roman" pitchFamily="18" charset="0"/>
              </a:rPr>
            </a:br>
            <a:r>
              <a:rPr lang="en-GB" altLang="ar-JO" sz="2400" dirty="0" smtClean="0">
                <a:cs typeface="Times New Roman" pitchFamily="18" charset="0"/>
              </a:rPr>
              <a:t>generate text, speech and graphics, …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dirty="0" smtClean="0">
                <a:cs typeface="Times New Roman" pitchFamily="18" charset="0"/>
              </a:rPr>
              <a:t>modify the environment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z="2400" dirty="0" smtClean="0">
                <a:cs typeface="Times New Roman" pitchFamily="18" charset="0"/>
              </a:rPr>
              <a:t>robotics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0" y="0"/>
            <a:ext cx="7772400" cy="1143000"/>
          </a:xfrm>
          <a:noFill/>
        </p:spPr>
        <p:txBody>
          <a:bodyPr lIns="90487" tIns="44450" rIns="90487" bIns="44450"/>
          <a:lstStyle/>
          <a:p>
            <a:pPr eaLnBrk="1" hangingPunct="1"/>
            <a:r>
              <a:rPr lang="en-GB" altLang="ar-JO" dirty="0" smtClean="0"/>
              <a:t>History of AI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00150"/>
            <a:ext cx="7772400" cy="5270500"/>
          </a:xfrm>
        </p:spPr>
        <p:txBody>
          <a:bodyPr lIns="90487" tIns="44450" rIns="90487" bIns="44450">
            <a:noAutofit/>
          </a:bodyPr>
          <a:lstStyle/>
          <a:p>
            <a:pPr eaLnBrk="1" hangingPunct="1"/>
            <a:r>
              <a:rPr lang="en-GB" altLang="ar-JO" sz="2800" dirty="0" smtClean="0"/>
              <a:t>AI has a long history</a:t>
            </a:r>
          </a:p>
          <a:p>
            <a:pPr lvl="1" eaLnBrk="1" hangingPunct="1"/>
            <a:r>
              <a:rPr lang="en-GB" altLang="ar-JO" sz="2400" dirty="0" smtClean="0">
                <a:cs typeface="Times New Roman" pitchFamily="18" charset="0"/>
              </a:rPr>
              <a:t>Ancient Greece</a:t>
            </a:r>
          </a:p>
          <a:p>
            <a:pPr lvl="2" eaLnBrk="1" hangingPunct="1"/>
            <a:r>
              <a:rPr lang="en-GB" altLang="ar-JO" sz="2000" dirty="0" smtClean="0">
                <a:cs typeface="Times New Roman" pitchFamily="18" charset="0"/>
              </a:rPr>
              <a:t>Aristotle</a:t>
            </a:r>
          </a:p>
          <a:p>
            <a:pPr lvl="1" eaLnBrk="1" hangingPunct="1"/>
            <a:r>
              <a:rPr lang="en-GB" altLang="ar-JO" sz="2400" dirty="0" smtClean="0">
                <a:cs typeface="Times New Roman" pitchFamily="18" charset="0"/>
              </a:rPr>
              <a:t>Historical Figures Contributed</a:t>
            </a:r>
          </a:p>
          <a:p>
            <a:pPr lvl="2" eaLnBrk="1" hangingPunct="1"/>
            <a:r>
              <a:rPr lang="en-GB" altLang="ar-JO" sz="2000" dirty="0" smtClean="0">
                <a:cs typeface="Times New Roman" pitchFamily="18" charset="0"/>
              </a:rPr>
              <a:t>Ramon Lull</a:t>
            </a:r>
          </a:p>
          <a:p>
            <a:pPr lvl="2" eaLnBrk="1" hangingPunct="1"/>
            <a:r>
              <a:rPr lang="en-GB" altLang="ar-JO" sz="2000" dirty="0" smtClean="0">
                <a:cs typeface="Times New Roman" pitchFamily="18" charset="0"/>
              </a:rPr>
              <a:t>Al </a:t>
            </a:r>
            <a:r>
              <a:rPr lang="en-GB" altLang="ar-JO" sz="2000" dirty="0" err="1" smtClean="0">
                <a:cs typeface="Times New Roman" pitchFamily="18" charset="0"/>
              </a:rPr>
              <a:t>Khowarazmi</a:t>
            </a:r>
            <a:endParaRPr lang="en-GB" altLang="ar-JO" sz="2000" dirty="0" smtClean="0">
              <a:cs typeface="Times New Roman" pitchFamily="18" charset="0"/>
            </a:endParaRPr>
          </a:p>
          <a:p>
            <a:pPr lvl="2" eaLnBrk="1" hangingPunct="1"/>
            <a:r>
              <a:rPr lang="en-GB" altLang="ar-JO" sz="2000" dirty="0" smtClean="0">
                <a:cs typeface="Times New Roman" pitchFamily="18" charset="0"/>
              </a:rPr>
              <a:t>Leonardo </a:t>
            </a:r>
            <a:r>
              <a:rPr lang="en-GB" altLang="ar-JO" sz="2000" dirty="0" err="1" smtClean="0">
                <a:cs typeface="Times New Roman" pitchFamily="18" charset="0"/>
              </a:rPr>
              <a:t>da</a:t>
            </a:r>
            <a:r>
              <a:rPr lang="en-GB" altLang="ar-JO" sz="2000" dirty="0" smtClean="0">
                <a:cs typeface="Times New Roman" pitchFamily="18" charset="0"/>
              </a:rPr>
              <a:t> Vinci</a:t>
            </a:r>
          </a:p>
          <a:p>
            <a:pPr lvl="2" eaLnBrk="1" hangingPunct="1"/>
            <a:r>
              <a:rPr lang="en-GB" altLang="ar-JO" sz="2000" dirty="0" smtClean="0">
                <a:cs typeface="Times New Roman" pitchFamily="18" charset="0"/>
              </a:rPr>
              <a:t>David Hume</a:t>
            </a:r>
          </a:p>
          <a:p>
            <a:pPr lvl="2" eaLnBrk="1" hangingPunct="1"/>
            <a:r>
              <a:rPr lang="en-GB" altLang="ar-JO" sz="2000" dirty="0" smtClean="0">
                <a:cs typeface="Times New Roman" pitchFamily="18" charset="0"/>
              </a:rPr>
              <a:t>George Boole</a:t>
            </a:r>
          </a:p>
          <a:p>
            <a:pPr lvl="2" eaLnBrk="1" hangingPunct="1"/>
            <a:r>
              <a:rPr lang="en-GB" altLang="ar-JO" sz="2000" dirty="0" smtClean="0">
                <a:cs typeface="Times New Roman" pitchFamily="18" charset="0"/>
              </a:rPr>
              <a:t>Charles Babbage</a:t>
            </a:r>
          </a:p>
          <a:p>
            <a:pPr lvl="2" eaLnBrk="1" hangingPunct="1"/>
            <a:r>
              <a:rPr lang="en-GB" altLang="ar-JO" sz="2000" dirty="0" smtClean="0">
                <a:cs typeface="Times New Roman" pitchFamily="18" charset="0"/>
              </a:rPr>
              <a:t>John von </a:t>
            </a:r>
            <a:r>
              <a:rPr lang="en-GB" altLang="ar-JO" sz="2000" dirty="0" err="1" smtClean="0">
                <a:cs typeface="Times New Roman" pitchFamily="18" charset="0"/>
              </a:rPr>
              <a:t>Neuman</a:t>
            </a:r>
            <a:endParaRPr lang="en-GB" altLang="ar-JO" sz="2000" dirty="0" smtClean="0">
              <a:cs typeface="Times New Roman" pitchFamily="18" charset="0"/>
            </a:endParaRPr>
          </a:p>
          <a:p>
            <a:pPr lvl="1" eaLnBrk="1" hangingPunct="1"/>
            <a:r>
              <a:rPr lang="en-GB" altLang="ar-JO" sz="2400" dirty="0" smtClean="0">
                <a:cs typeface="Times New Roman" pitchFamily="18" charset="0"/>
              </a:rPr>
              <a:t>As old as electronic computers themselves (c1940)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4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0" y="0"/>
            <a:ext cx="7772400" cy="1143000"/>
          </a:xfrm>
          <a:noFill/>
        </p:spPr>
        <p:txBody>
          <a:bodyPr lIns="90487" tIns="44450" rIns="90487" bIns="44450"/>
          <a:lstStyle/>
          <a:p>
            <a:pPr eaLnBrk="1" hangingPunct="1"/>
            <a:r>
              <a:rPr lang="en-GB" altLang="ar-JO" smtClean="0"/>
              <a:t>History of AI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73100" y="993775"/>
            <a:ext cx="7772400" cy="5341938"/>
          </a:xfrm>
        </p:spPr>
        <p:txBody>
          <a:bodyPr lIns="90487" tIns="44450" rIns="90487" bIns="44450"/>
          <a:lstStyle/>
          <a:p>
            <a:pPr eaLnBrk="1" hangingPunct="1">
              <a:lnSpc>
                <a:spcPct val="90000"/>
              </a:lnSpc>
            </a:pPr>
            <a:r>
              <a:rPr lang="en-GB" altLang="ar-JO" smtClean="0"/>
              <a:t>Origins</a:t>
            </a:r>
            <a:endParaRPr lang="en-GB" altLang="ar-JO" sz="2800" smtClean="0"/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The Dartmouth conference: 1956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John McCarthy (Stanford)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Marvin Minsky (MIT)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Herbert Simon (CMU)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Allen Newell (CMU)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Arthur Samuel (IBM)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mtClean="0"/>
              <a:t>The Turing Test (1950)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mtClean="0"/>
              <a:t>“Machines who Think”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By Pamela McCorckindale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23850"/>
            <a:ext cx="7772400" cy="762000"/>
          </a:xfrm>
          <a:noFill/>
        </p:spPr>
        <p:txBody>
          <a:bodyPr lIns="90487" tIns="44450" rIns="90487" bIns="44450"/>
          <a:lstStyle/>
          <a:p>
            <a:pPr eaLnBrk="1" hangingPunct="1"/>
            <a:r>
              <a:rPr lang="en-GB" altLang="ar-JO" smtClean="0"/>
              <a:t>Periods in AI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309688"/>
            <a:ext cx="8432800" cy="5318125"/>
          </a:xfrm>
        </p:spPr>
        <p:txBody>
          <a:bodyPr lIns="90487" tIns="44450" rIns="90487" bIns="44450"/>
          <a:lstStyle/>
          <a:p>
            <a:pPr eaLnBrk="1" hangingPunct="1">
              <a:lnSpc>
                <a:spcPct val="90000"/>
              </a:lnSpc>
            </a:pPr>
            <a:r>
              <a:rPr lang="en-GB" altLang="ar-JO" smtClean="0"/>
              <a:t>Early period - 1950’s &amp; 60’s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Game playing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brute force (calculate your way out)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Theorem proving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symbol manipulation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Biological models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neural nets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mtClean="0"/>
              <a:t>Symbolic application period - 70’s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Early expert systems, use of knowledge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mtClean="0"/>
              <a:t>Commercial period - 80’s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boom in knowledge/ rule bases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76300"/>
          </a:xfrm>
          <a:noFill/>
        </p:spPr>
        <p:txBody>
          <a:bodyPr lIns="90487" tIns="44450" rIns="90487" bIns="44450"/>
          <a:lstStyle/>
          <a:p>
            <a:pPr eaLnBrk="1" hangingPunct="1"/>
            <a:r>
              <a:rPr lang="en-GB" altLang="ar-JO" smtClean="0"/>
              <a:t>Periods in AI cont’d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06400" y="1657350"/>
            <a:ext cx="8331200" cy="4933950"/>
          </a:xfrm>
        </p:spPr>
        <p:txBody>
          <a:bodyPr lIns="90487" tIns="44450" rIns="90487" bIns="44450"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? period - 90’s and New Millenium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Real-world applications, modelling, better evidence, use of theory, ......?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Topics: data mining, formal models, GA’s, fuzzy logic, agents, neural nets, autonomous systems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ar-JO" sz="2800" smtClean="0"/>
              <a:t>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visual recognition of traffic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medical diagnosis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directory enquiries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power plant control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ar-JO" smtClean="0">
                <a:cs typeface="Times New Roman" pitchFamily="18" charset="0"/>
              </a:rPr>
              <a:t>automatic cars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ar-JO" sz="2800" smtClean="0">
                <a:sym typeface="Wingdings" pitchFamily="2" charset="2"/>
              </a:rPr>
              <a:t>Autonomous Planning &amp; Scheduling:</a:t>
            </a:r>
          </a:p>
          <a:p>
            <a:pPr lvl="1" eaLnBrk="1" hangingPunct="1"/>
            <a:r>
              <a:rPr lang="en-US" altLang="ar-JO" sz="2500" smtClean="0">
                <a:latin typeface="TimesNewRomanPSMT" charset="0"/>
                <a:cs typeface="Times New Roman" pitchFamily="18" charset="0"/>
                <a:sym typeface="Wingdings" pitchFamily="2" charset="2"/>
              </a:rPr>
              <a:t>Autonomous rovers.</a:t>
            </a:r>
          </a:p>
          <a:p>
            <a:pPr eaLnBrk="1" hangingPunct="1">
              <a:buFontTx/>
              <a:buNone/>
            </a:pPr>
            <a:endParaRPr lang="en-US" altLang="ar-JO" sz="2800" smtClean="0"/>
          </a:p>
        </p:txBody>
      </p:sp>
      <p:graphicFrame>
        <p:nvGraphicFramePr>
          <p:cNvPr id="92164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1714500" y="4495800"/>
          <a:ext cx="2209800" cy="1624013"/>
        </p:xfrm>
        <a:graphic>
          <a:graphicData uri="http://schemas.openxmlformats.org/presentationml/2006/ole">
            <p:oleObj spid="_x0000_s2050" name="Bitmap Image" r:id="rId3" imgW="1438095" imgH="1057423" progId="PBrush">
              <p:embed/>
            </p:oleObj>
          </a:graphicData>
        </a:graphic>
      </p:graphicFrame>
      <p:graphicFrame>
        <p:nvGraphicFramePr>
          <p:cNvPr id="92165" name="Object 6"/>
          <p:cNvGraphicFramePr>
            <a:graphicFrameLocks noChangeAspect="1"/>
          </p:cNvGraphicFramePr>
          <p:nvPr>
            <p:ph sz="quarter" idx="3"/>
          </p:nvPr>
        </p:nvGraphicFramePr>
        <p:xfrm>
          <a:off x="5257800" y="4495800"/>
          <a:ext cx="2043113" cy="1681163"/>
        </p:xfrm>
        <a:graphic>
          <a:graphicData uri="http://schemas.openxmlformats.org/presentationml/2006/ole">
            <p:oleObj spid="_x0000_s2051" name="Bitmap Image" r:id="rId4" imgW="1343212" imgH="1104762" progId="PBrush">
              <p:embed/>
            </p:oleObj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ar-JO" smtClean="0">
                <a:sym typeface="Wingdings" pitchFamily="2" charset="2"/>
              </a:rPr>
              <a:t>Autonomous Planning &amp; Scheduling:</a:t>
            </a:r>
          </a:p>
          <a:p>
            <a:pPr lvl="1" eaLnBrk="1" hangingPunct="1"/>
            <a:r>
              <a:rPr lang="en-US" altLang="ar-JO" sz="2900" smtClean="0">
                <a:latin typeface="TimesNewRomanPSMT" charset="0"/>
                <a:cs typeface="Times New Roman" pitchFamily="18" charset="0"/>
                <a:sym typeface="Wingdings" pitchFamily="2" charset="2"/>
              </a:rPr>
              <a:t>Telescope scheduling</a:t>
            </a:r>
          </a:p>
          <a:p>
            <a:pPr lvl="1" eaLnBrk="1" hangingPunct="1"/>
            <a:endParaRPr lang="en-US" altLang="ar-JO" sz="2900" smtClean="0">
              <a:latin typeface="TimesNewRomanPSMT" charset="0"/>
              <a:cs typeface="Times New Roman" pitchFamily="18" charset="0"/>
              <a:sym typeface="Wingdings" pitchFamily="2" charset="2"/>
            </a:endParaRPr>
          </a:p>
          <a:p>
            <a:pPr lvl="1" eaLnBrk="1" hangingPunct="1">
              <a:buFontTx/>
              <a:buNone/>
            </a:pPr>
            <a:endParaRPr lang="en-US" altLang="ar-JO" sz="2900" smtClean="0">
              <a:latin typeface="TimesNewRomanPSMT" charset="0"/>
              <a:cs typeface="Times New Roman" pitchFamily="18" charset="0"/>
              <a:sym typeface="Wingdings" pitchFamily="2" charset="2"/>
            </a:endParaRPr>
          </a:p>
          <a:p>
            <a:pPr lvl="1" eaLnBrk="1" hangingPunct="1">
              <a:buFontTx/>
              <a:buNone/>
            </a:pPr>
            <a:endParaRPr lang="en-US" altLang="ar-JO" sz="2900" smtClean="0">
              <a:latin typeface="TimesNewRomanPSMT" charset="0"/>
              <a:cs typeface="Times New Roman" pitchFamily="18" charset="0"/>
              <a:sym typeface="Wingdings" pitchFamily="2" charset="2"/>
            </a:endParaRPr>
          </a:p>
        </p:txBody>
      </p:sp>
      <p:graphicFrame>
        <p:nvGraphicFramePr>
          <p:cNvPr id="93188" name="Object 9"/>
          <p:cNvGraphicFramePr>
            <a:graphicFrameLocks noChangeAspect="1"/>
          </p:cNvGraphicFramePr>
          <p:nvPr/>
        </p:nvGraphicFramePr>
        <p:xfrm>
          <a:off x="942975" y="3521075"/>
          <a:ext cx="2976563" cy="2286000"/>
        </p:xfrm>
        <a:graphic>
          <a:graphicData uri="http://schemas.openxmlformats.org/presentationml/2006/ole">
            <p:oleObj spid="_x0000_s3074" name="Bitmap Image" r:id="rId3" imgW="1457143" imgH="961905" progId="PBrush">
              <p:embed/>
            </p:oleObj>
          </a:graphicData>
        </a:graphic>
      </p:graphicFrame>
      <p:graphicFrame>
        <p:nvGraphicFramePr>
          <p:cNvPr id="93189" name="Object 10"/>
          <p:cNvGraphicFramePr>
            <a:graphicFrameLocks noChangeAspect="1"/>
          </p:cNvGraphicFramePr>
          <p:nvPr/>
        </p:nvGraphicFramePr>
        <p:xfrm>
          <a:off x="5153025" y="3378200"/>
          <a:ext cx="2540000" cy="2571750"/>
        </p:xfrm>
        <a:graphic>
          <a:graphicData uri="http://schemas.openxmlformats.org/presentationml/2006/ole">
            <p:oleObj spid="_x0000_s3075" name="Bitmap Image" r:id="rId4" imgW="1095528" imgH="1295238" progId="PBrush">
              <p:embed/>
            </p:oleObj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ar-JO" smtClean="0">
                <a:sym typeface="Wingdings" pitchFamily="2" charset="2"/>
              </a:rPr>
              <a:t>Autonomous Planning &amp; Scheduling:</a:t>
            </a:r>
          </a:p>
          <a:p>
            <a:pPr lvl="1" eaLnBrk="1" hangingPunct="1"/>
            <a:r>
              <a:rPr lang="en-US" altLang="ar-JO" sz="2900" smtClean="0">
                <a:latin typeface="TimesNewRomanPSMT" charset="0"/>
                <a:cs typeface="Times New Roman" pitchFamily="18" charset="0"/>
                <a:sym typeface="Wingdings" pitchFamily="2" charset="2"/>
              </a:rPr>
              <a:t>Analysis of data:</a:t>
            </a:r>
          </a:p>
          <a:p>
            <a:pPr eaLnBrk="1" hangingPunct="1">
              <a:buFontTx/>
              <a:buNone/>
            </a:pPr>
            <a:endParaRPr lang="en-US" altLang="ar-JO" smtClean="0"/>
          </a:p>
          <a:p>
            <a:pPr eaLnBrk="1" hangingPunct="1">
              <a:buFontTx/>
              <a:buNone/>
            </a:pPr>
            <a:endParaRPr lang="en-US" altLang="ar-JO" smtClean="0"/>
          </a:p>
        </p:txBody>
      </p:sp>
      <p:graphicFrame>
        <p:nvGraphicFramePr>
          <p:cNvPr id="94212" name="Object 4"/>
          <p:cNvGraphicFramePr>
            <a:graphicFrameLocks noChangeAspect="1"/>
          </p:cNvGraphicFramePr>
          <p:nvPr/>
        </p:nvGraphicFramePr>
        <p:xfrm>
          <a:off x="611188" y="3213100"/>
          <a:ext cx="2220912" cy="2786063"/>
        </p:xfrm>
        <a:graphic>
          <a:graphicData uri="http://schemas.openxmlformats.org/presentationml/2006/ole">
            <p:oleObj spid="_x0000_s4098" name="Bitmap Image" r:id="rId3" imgW="866896" imgH="1104762" progId="PBrush">
              <p:embed/>
            </p:oleObj>
          </a:graphicData>
        </a:graphic>
      </p:graphicFrame>
      <p:graphicFrame>
        <p:nvGraphicFramePr>
          <p:cNvPr id="94213" name="Object 5"/>
          <p:cNvGraphicFramePr>
            <a:graphicFrameLocks noChangeAspect="1"/>
          </p:cNvGraphicFramePr>
          <p:nvPr/>
        </p:nvGraphicFramePr>
        <p:xfrm>
          <a:off x="3203575" y="3644900"/>
          <a:ext cx="2684463" cy="1978025"/>
        </p:xfrm>
        <a:graphic>
          <a:graphicData uri="http://schemas.openxmlformats.org/presentationml/2006/ole">
            <p:oleObj spid="_x0000_s4099" name="Bitmap Image" r:id="rId4" imgW="1209524" imgH="905001" progId="PBrush">
              <p:embed/>
            </p:oleObj>
          </a:graphicData>
        </a:graphic>
      </p:graphicFrame>
      <p:graphicFrame>
        <p:nvGraphicFramePr>
          <p:cNvPr id="94214" name="Object 6"/>
          <p:cNvGraphicFramePr>
            <a:graphicFrameLocks noChangeAspect="1"/>
          </p:cNvGraphicFramePr>
          <p:nvPr/>
        </p:nvGraphicFramePr>
        <p:xfrm>
          <a:off x="6372225" y="3644900"/>
          <a:ext cx="2176463" cy="2143125"/>
        </p:xfrm>
        <a:graphic>
          <a:graphicData uri="http://schemas.openxmlformats.org/presentationml/2006/ole">
            <p:oleObj spid="_x0000_s4100" name="Bitmap Image" r:id="rId5" imgW="1104762" imgH="1104762" progId="PBrush">
              <p:embed/>
            </p:oleObj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ar-JO" b="1" smtClean="0">
                <a:latin typeface="TimesNewRomanPS-BoldMT" charset="0"/>
                <a:sym typeface="Wingdings" pitchFamily="2" charset="2"/>
              </a:rPr>
              <a:t>Medicine</a:t>
            </a:r>
            <a:r>
              <a:rPr lang="en-US" altLang="ar-JO" smtClean="0">
                <a:sym typeface="Wingdings" pitchFamily="2" charset="2"/>
              </a:rPr>
              <a:t>:</a:t>
            </a:r>
          </a:p>
          <a:p>
            <a:pPr lvl="1" eaLnBrk="1" hangingPunct="1"/>
            <a:r>
              <a:rPr lang="en-US" altLang="ar-JO" sz="2900" smtClean="0">
                <a:latin typeface="TimesNewRomanPSMT" charset="0"/>
                <a:cs typeface="Times New Roman" pitchFamily="18" charset="0"/>
                <a:sym typeface="Wingdings" pitchFamily="2" charset="2"/>
              </a:rPr>
              <a:t>Image guided surgery</a:t>
            </a:r>
          </a:p>
          <a:p>
            <a:pPr eaLnBrk="1" hangingPunct="1"/>
            <a:endParaRPr lang="en-US" altLang="ar-JO" smtClean="0"/>
          </a:p>
          <a:p>
            <a:pPr eaLnBrk="1" hangingPunct="1">
              <a:buFontTx/>
              <a:buNone/>
            </a:pPr>
            <a:endParaRPr lang="en-US" altLang="ar-JO" smtClean="0"/>
          </a:p>
        </p:txBody>
      </p:sp>
      <p:pic>
        <p:nvPicPr>
          <p:cNvPr id="95236" name="Picture 4" descr="enhanced-reality-visualization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84313" y="3243263"/>
            <a:ext cx="304800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5237" name="Object 5"/>
          <p:cNvGraphicFramePr>
            <a:graphicFrameLocks noChangeAspect="1"/>
          </p:cNvGraphicFramePr>
          <p:nvPr/>
        </p:nvGraphicFramePr>
        <p:xfrm>
          <a:off x="4822825" y="3243263"/>
          <a:ext cx="3409950" cy="2511425"/>
        </p:xfrm>
        <a:graphic>
          <a:graphicData uri="http://schemas.openxmlformats.org/presentationml/2006/ole">
            <p:oleObj spid="_x0000_s5122" name="Bitmap Image" r:id="rId4" imgW="1095528" imgH="819048" progId="PBrush">
              <p:embed/>
            </p:oleObj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ar-JO" b="1" smtClean="0">
                <a:latin typeface="TimesNewRomanPS-BoldMT" charset="0"/>
                <a:sym typeface="Wingdings" pitchFamily="2" charset="2"/>
              </a:rPr>
              <a:t>Medicine</a:t>
            </a:r>
            <a:r>
              <a:rPr lang="en-US" altLang="ar-JO" smtClean="0">
                <a:sym typeface="Wingdings" pitchFamily="2" charset="2"/>
              </a:rPr>
              <a:t>:</a:t>
            </a:r>
          </a:p>
          <a:p>
            <a:pPr lvl="1" eaLnBrk="1" hangingPunct="1"/>
            <a:r>
              <a:rPr lang="en-US" altLang="ar-JO" sz="2900" smtClean="0">
                <a:latin typeface="TimesNewRomanPSMT" charset="0"/>
                <a:cs typeface="Times New Roman" pitchFamily="18" charset="0"/>
                <a:sym typeface="Wingdings" pitchFamily="2" charset="2"/>
              </a:rPr>
              <a:t>Image analysis and enhancement</a:t>
            </a:r>
          </a:p>
          <a:p>
            <a:pPr eaLnBrk="1" hangingPunct="1">
              <a:buFontTx/>
              <a:buNone/>
            </a:pPr>
            <a:endParaRPr lang="en-US" altLang="ar-JO" smtClean="0"/>
          </a:p>
          <a:p>
            <a:pPr eaLnBrk="1" hangingPunct="1">
              <a:buFontTx/>
              <a:buNone/>
            </a:pPr>
            <a:endParaRPr lang="en-US" altLang="ar-JO" smtClean="0"/>
          </a:p>
        </p:txBody>
      </p:sp>
      <p:pic>
        <p:nvPicPr>
          <p:cNvPr id="96260" name="Picture 4" descr="Picture 002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3124200"/>
            <a:ext cx="2894013" cy="134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61" name="AutoShape 5"/>
          <p:cNvSpPr>
            <a:spLocks noChangeArrowheads="1"/>
          </p:cNvSpPr>
          <p:nvPr/>
        </p:nvSpPr>
        <p:spPr bwMode="auto">
          <a:xfrm>
            <a:off x="4027488" y="3481388"/>
            <a:ext cx="944562" cy="500062"/>
          </a:xfrm>
          <a:prstGeom prst="notchedRightArrow">
            <a:avLst>
              <a:gd name="adj1" fmla="val 50000"/>
              <a:gd name="adj2" fmla="val 472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JO" altLang="ar-JO"/>
          </a:p>
        </p:txBody>
      </p:sp>
      <p:pic>
        <p:nvPicPr>
          <p:cNvPr id="96262" name="Picture 6" descr="Picture 00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60975" y="3124200"/>
            <a:ext cx="2894013" cy="134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6263" name="Object 7"/>
          <p:cNvGraphicFramePr>
            <a:graphicFrameLocks noChangeAspect="1"/>
          </p:cNvGraphicFramePr>
          <p:nvPr/>
        </p:nvGraphicFramePr>
        <p:xfrm>
          <a:off x="1052513" y="4910138"/>
          <a:ext cx="2032000" cy="1751012"/>
        </p:xfrm>
        <a:graphic>
          <a:graphicData uri="http://schemas.openxmlformats.org/presentationml/2006/ole">
            <p:oleObj spid="_x0000_s6146" name="Bitmap Image" r:id="rId5" imgW="1066667" imgH="933580" progId="PBrush">
              <p:embed/>
            </p:oleObj>
          </a:graphicData>
        </a:graphic>
      </p:graphicFrame>
      <p:pic>
        <p:nvPicPr>
          <p:cNvPr id="96264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32463" y="4773613"/>
            <a:ext cx="1814512" cy="160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3429000" cy="1371600"/>
          </a:xfrm>
        </p:spPr>
        <p:txBody>
          <a:bodyPr/>
          <a:lstStyle/>
          <a:p>
            <a:pPr eaLnBrk="1" hangingPunct="1"/>
            <a:r>
              <a:rPr lang="en-US" altLang="ar-JO" sz="2800" b="1" smtClean="0">
                <a:latin typeface="TimesNewRomanPS-BoldMT" charset="0"/>
                <a:sym typeface="Wingdings" pitchFamily="2" charset="2"/>
              </a:rPr>
              <a:t>Transportation</a:t>
            </a:r>
            <a:r>
              <a:rPr lang="en-US" altLang="ar-JO" sz="2800" smtClean="0">
                <a:sym typeface="Wingdings" pitchFamily="2" charset="2"/>
              </a:rPr>
              <a:t>:</a:t>
            </a:r>
          </a:p>
          <a:p>
            <a:pPr lvl="1" eaLnBrk="1" hangingPunct="1"/>
            <a:r>
              <a:rPr lang="en-US" altLang="ar-JO" sz="2500" b="1" smtClean="0">
                <a:latin typeface="TimesNewRomanPS-BoldMT" charset="0"/>
                <a:cs typeface="Times New Roman" pitchFamily="18" charset="0"/>
                <a:sym typeface="Wingdings" pitchFamily="2" charset="2"/>
              </a:rPr>
              <a:t>Autonomous vehicle control:</a:t>
            </a:r>
          </a:p>
          <a:p>
            <a:pPr lvl="1" eaLnBrk="1" hangingPunct="1">
              <a:buFontTx/>
              <a:buNone/>
            </a:pPr>
            <a:endParaRPr lang="en-US" altLang="ar-JO" sz="2500" b="1" smtClean="0">
              <a:latin typeface="TimesNewRomanPS-BoldMT" charset="0"/>
              <a:cs typeface="Times New Roman" pitchFamily="18" charset="0"/>
              <a:sym typeface="Wingdings" pitchFamily="2" charset="2"/>
            </a:endParaRPr>
          </a:p>
          <a:p>
            <a:pPr lvl="1" eaLnBrk="1" hangingPunct="1">
              <a:buFontTx/>
              <a:buNone/>
            </a:pPr>
            <a:endParaRPr lang="en-US" altLang="ar-JO" sz="2500" b="1" smtClean="0">
              <a:latin typeface="TimesNewRomanPS-BoldMT" charset="0"/>
              <a:cs typeface="Times New Roman" pitchFamily="18" charset="0"/>
              <a:sym typeface="Wingdings" pitchFamily="2" charset="2"/>
            </a:endParaRPr>
          </a:p>
          <a:p>
            <a:pPr eaLnBrk="1" hangingPunct="1">
              <a:buFontTx/>
              <a:buNone/>
            </a:pPr>
            <a:endParaRPr lang="en-US" altLang="ar-JO" sz="2800" smtClean="0"/>
          </a:p>
        </p:txBody>
      </p:sp>
      <p:graphicFrame>
        <p:nvGraphicFramePr>
          <p:cNvPr id="97284" name="Object 7"/>
          <p:cNvGraphicFramePr>
            <a:graphicFrameLocks noChangeAspect="1"/>
          </p:cNvGraphicFramePr>
          <p:nvPr>
            <p:ph sz="half" idx="2"/>
          </p:nvPr>
        </p:nvGraphicFramePr>
        <p:xfrm>
          <a:off x="1447800" y="3355975"/>
          <a:ext cx="5943600" cy="2578100"/>
        </p:xfrm>
        <a:graphic>
          <a:graphicData uri="http://schemas.openxmlformats.org/presentationml/2006/ole">
            <p:oleObj spid="_x0000_s7170" name="Bitmap Image" r:id="rId3" imgW="1580952" imgH="685714" progId="PBrush">
              <p:embed/>
            </p:oleObj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ar-JO" b="1" smtClean="0">
                <a:latin typeface="TimesNewRomanPS-BoldMT" charset="0"/>
                <a:sym typeface="Wingdings" pitchFamily="2" charset="2"/>
              </a:rPr>
              <a:t>Transportation</a:t>
            </a:r>
            <a:r>
              <a:rPr lang="en-US" altLang="ar-JO" smtClean="0">
                <a:sym typeface="Wingdings" pitchFamily="2" charset="2"/>
              </a:rPr>
              <a:t>:</a:t>
            </a:r>
          </a:p>
          <a:p>
            <a:pPr lvl="1" eaLnBrk="1" hangingPunct="1"/>
            <a:r>
              <a:rPr lang="en-US" altLang="ar-JO" sz="2900" b="1" smtClean="0">
                <a:latin typeface="TimesNewRomanPSMT" charset="0"/>
                <a:cs typeface="Times New Roman" pitchFamily="18" charset="0"/>
                <a:sym typeface="Wingdings" pitchFamily="2" charset="2"/>
              </a:rPr>
              <a:t>Pedestrian detection</a:t>
            </a:r>
            <a:r>
              <a:rPr lang="en-US" altLang="ar-JO" sz="2900" b="1" smtClean="0">
                <a:latin typeface="TimesNewRomanPS-BoldMT" charset="0"/>
                <a:cs typeface="Times New Roman" pitchFamily="18" charset="0"/>
                <a:sym typeface="Wingdings" pitchFamily="2" charset="2"/>
              </a:rPr>
              <a:t>:</a:t>
            </a:r>
          </a:p>
          <a:p>
            <a:pPr eaLnBrk="1" hangingPunct="1"/>
            <a:endParaRPr lang="en-US" altLang="ar-JO" smtClean="0"/>
          </a:p>
          <a:p>
            <a:pPr eaLnBrk="1" hangingPunct="1"/>
            <a:endParaRPr lang="en-US" altLang="ar-JO" smtClean="0"/>
          </a:p>
        </p:txBody>
      </p:sp>
      <p:pic>
        <p:nvPicPr>
          <p:cNvPr id="9830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276600"/>
            <a:ext cx="6604000" cy="304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ar-JO" smtClean="0"/>
          </a:p>
          <a:p>
            <a:pPr eaLnBrk="1" hangingPunct="1"/>
            <a:endParaRPr lang="en-US" altLang="ar-JO" smtClean="0"/>
          </a:p>
          <a:p>
            <a:pPr eaLnBrk="1" hangingPunct="1"/>
            <a:endParaRPr lang="en-US" altLang="ar-JO" smtClean="0"/>
          </a:p>
        </p:txBody>
      </p:sp>
      <p:pic>
        <p:nvPicPr>
          <p:cNvPr id="993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438400"/>
            <a:ext cx="5734050" cy="423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3" name="Rectangle 5"/>
          <p:cNvSpPr>
            <a:spLocks noChangeArrowheads="1"/>
          </p:cNvSpPr>
          <p:nvPr/>
        </p:nvSpPr>
        <p:spPr bwMode="auto">
          <a:xfrm>
            <a:off x="1600200" y="1828800"/>
            <a:ext cx="13287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ar-JO" b="1">
                <a:sym typeface="Wingdings" pitchFamily="2" charset="2"/>
              </a:rPr>
              <a:t>Games</a:t>
            </a:r>
            <a:r>
              <a:rPr kumimoji="1" lang="en-US" altLang="ar-JO">
                <a:sym typeface="Wingdings" pitchFamily="2" charset="2"/>
              </a:rPr>
              <a:t>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ar-JO" b="1" smtClean="0">
                <a:latin typeface="TimesNewRomanPS-BoldMT" charset="0"/>
                <a:sym typeface="Wingdings" pitchFamily="2" charset="2"/>
              </a:rPr>
              <a:t>Games</a:t>
            </a:r>
            <a:r>
              <a:rPr lang="en-US" altLang="ar-JO" smtClean="0">
                <a:sym typeface="Wingdings" pitchFamily="2" charset="2"/>
              </a:rPr>
              <a:t>:</a:t>
            </a:r>
          </a:p>
          <a:p>
            <a:pPr eaLnBrk="1" hangingPunct="1"/>
            <a:endParaRPr lang="en-US" altLang="ar-JO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endParaRPr lang="en-US" altLang="ar-JO" smtClean="0">
              <a:sym typeface="Wingdings" pitchFamily="2" charset="2"/>
            </a:endParaRPr>
          </a:p>
        </p:txBody>
      </p:sp>
      <p:pic>
        <p:nvPicPr>
          <p:cNvPr id="100356" name="Picture 4" descr="ches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2286000"/>
            <a:ext cx="4354513" cy="42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ar-JO" b="1" smtClean="0">
                <a:latin typeface="TimesNewRomanPS-BoldMT" charset="0"/>
                <a:sym typeface="Wingdings" pitchFamily="2" charset="2"/>
              </a:rPr>
              <a:t>Robotic toys</a:t>
            </a:r>
            <a:r>
              <a:rPr lang="en-US" altLang="ar-JO" smtClean="0">
                <a:sym typeface="Wingdings" pitchFamily="2" charset="2"/>
              </a:rPr>
              <a:t>:</a:t>
            </a:r>
          </a:p>
          <a:p>
            <a:pPr eaLnBrk="1" hangingPunct="1">
              <a:buFontTx/>
              <a:buNone/>
            </a:pPr>
            <a:endParaRPr lang="en-US" altLang="ar-JO" smtClean="0"/>
          </a:p>
        </p:txBody>
      </p:sp>
      <p:graphicFrame>
        <p:nvGraphicFramePr>
          <p:cNvPr id="101380" name="Object 4"/>
          <p:cNvGraphicFramePr>
            <a:graphicFrameLocks noChangeAspect="1"/>
          </p:cNvGraphicFramePr>
          <p:nvPr/>
        </p:nvGraphicFramePr>
        <p:xfrm>
          <a:off x="2198688" y="2806700"/>
          <a:ext cx="1357312" cy="1428750"/>
        </p:xfrm>
        <a:graphic>
          <a:graphicData uri="http://schemas.openxmlformats.org/presentationml/2006/ole">
            <p:oleObj spid="_x0000_s8194" name="Bitmap Image" r:id="rId3" imgW="828791" imgH="885949" progId="PBrush">
              <p:embed/>
            </p:oleObj>
          </a:graphicData>
        </a:graphic>
      </p:graphicFrame>
      <p:graphicFrame>
        <p:nvGraphicFramePr>
          <p:cNvPr id="101381" name="Object 5"/>
          <p:cNvGraphicFramePr>
            <a:graphicFrameLocks noChangeAspect="1"/>
          </p:cNvGraphicFramePr>
          <p:nvPr/>
        </p:nvGraphicFramePr>
        <p:xfrm>
          <a:off x="4884738" y="3449638"/>
          <a:ext cx="1487487" cy="2643187"/>
        </p:xfrm>
        <a:graphic>
          <a:graphicData uri="http://schemas.openxmlformats.org/presentationml/2006/ole">
            <p:oleObj spid="_x0000_s8195" name="Bitmap Image" r:id="rId4" imgW="1028844" imgH="1857143" progId="PBrush">
              <p:embed/>
            </p:oleObj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JO" smtClean="0"/>
              <a:t>AI Applications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ar-JO" sz="2400" b="1" smtClean="0">
                <a:latin typeface="TimesNewRomanPS-BoldMT" charset="0"/>
                <a:sym typeface="Wingdings" pitchFamily="2" charset="2"/>
              </a:rPr>
              <a:t>Other application areas</a:t>
            </a:r>
            <a:r>
              <a:rPr lang="en-US" altLang="ar-JO" sz="2400" smtClean="0">
                <a:sym typeface="Wingdings" pitchFamily="2" charset="2"/>
              </a:rPr>
              <a:t>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ar-JO" sz="2400" b="1" smtClean="0">
                <a:latin typeface="TimesNewRomanPS-BoldMT" charset="0"/>
                <a:sym typeface="Wingdings" pitchFamily="2" charset="2"/>
              </a:rPr>
              <a:t>Bioinformatics: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ar-JO" sz="2000" smtClean="0">
                <a:latin typeface="TimesNewRomanPSMT" charset="0"/>
                <a:cs typeface="Times New Roman" pitchFamily="18" charset="0"/>
                <a:sym typeface="Wingdings" pitchFamily="2" charset="2"/>
              </a:rPr>
              <a:t>Gene expression data analysis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ar-JO" sz="2000" smtClean="0">
                <a:latin typeface="TimesNewRomanPSMT" charset="0"/>
                <a:cs typeface="Times New Roman" pitchFamily="18" charset="0"/>
                <a:sym typeface="Wingdings" pitchFamily="2" charset="2"/>
              </a:rPr>
              <a:t>Prediction of protein structure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ar-JO" sz="2400" b="1" smtClean="0">
                <a:latin typeface="TimesNewRomanPS-BoldMT" charset="0"/>
                <a:sym typeface="Wingdings" pitchFamily="2" charset="2"/>
              </a:rPr>
              <a:t>Text classification, document sortin</a:t>
            </a:r>
            <a:r>
              <a:rPr lang="en-US" altLang="ar-JO" sz="2400" smtClean="0">
                <a:latin typeface="TimesNewRomanPSMT" charset="0"/>
                <a:sym typeface="Wingdings" pitchFamily="2" charset="2"/>
              </a:rPr>
              <a:t>g: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ar-JO" sz="2000" smtClean="0">
                <a:latin typeface="TimesNewRomanPSMT" charset="0"/>
                <a:cs typeface="Times New Roman" pitchFamily="18" charset="0"/>
                <a:sym typeface="Wingdings" pitchFamily="2" charset="2"/>
              </a:rPr>
              <a:t>Web pages, e-mails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ar-JO" sz="2000" smtClean="0">
                <a:latin typeface="TimesNewRomanPSMT" charset="0"/>
                <a:cs typeface="Times New Roman" pitchFamily="18" charset="0"/>
                <a:sym typeface="Wingdings" pitchFamily="2" charset="2"/>
              </a:rPr>
              <a:t>Articles in the news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ar-JO" sz="2400" b="1" smtClean="0">
                <a:latin typeface="TimesNewRomanPS-BoldMT" charset="0"/>
                <a:sym typeface="Wingdings" pitchFamily="2" charset="2"/>
              </a:rPr>
              <a:t>Video, image classification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ar-JO" sz="2400" b="1" smtClean="0">
                <a:latin typeface="TimesNewRomanPS-BoldMT" charset="0"/>
                <a:sym typeface="Wingdings" pitchFamily="2" charset="2"/>
              </a:rPr>
              <a:t>Music composition, picture drawing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ar-JO" sz="2400" b="1" smtClean="0">
                <a:latin typeface="TimesNewRomanPS-BoldMT" charset="0"/>
                <a:sym typeface="Wingdings" pitchFamily="2" charset="2"/>
              </a:rPr>
              <a:t>Natural Language Processing </a:t>
            </a:r>
            <a:r>
              <a:rPr lang="en-US" altLang="ar-JO" sz="2400" smtClean="0">
                <a:latin typeface="Wingdings-Regular" charset="0"/>
                <a:sym typeface="Wingdings" pitchFamily="2" charset="2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ar-JO" sz="2400" b="1" smtClean="0">
                <a:latin typeface="Wingdings-Regular" charset="0"/>
                <a:sym typeface="Wingdings" pitchFamily="2" charset="2"/>
              </a:rPr>
              <a:t>Perception.</a:t>
            </a:r>
          </a:p>
          <a:p>
            <a:pPr eaLnBrk="1" hangingPunct="1">
              <a:lnSpc>
                <a:spcPct val="80000"/>
              </a:lnSpc>
            </a:pPr>
            <a:endParaRPr lang="en-US" altLang="ar-JO" sz="240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2200</Words>
  <Application>Microsoft Office PowerPoint</Application>
  <PresentationFormat>On-screen Show (4:3)</PresentationFormat>
  <Paragraphs>417</Paragraphs>
  <Slides>56</Slides>
  <Notes>22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Office Theme</vt:lpstr>
      <vt:lpstr>Microsoft ClipArt Gallery</vt:lpstr>
      <vt:lpstr>Bitmap Image</vt:lpstr>
      <vt:lpstr>Sistem Cerdas Artificial Intelligence</vt:lpstr>
      <vt:lpstr>Overview</vt:lpstr>
      <vt:lpstr>Grade</vt:lpstr>
      <vt:lpstr>Topic</vt:lpstr>
      <vt:lpstr>Areas of AI and Some Dependencies</vt:lpstr>
      <vt:lpstr>What is Artificial Intelligence ? (1)</vt:lpstr>
      <vt:lpstr>What is Artificial Intelligence ?(2)</vt:lpstr>
      <vt:lpstr>What is Artificial Intelligence ?</vt:lpstr>
      <vt:lpstr>Systems that act like humans:  Turing Test</vt:lpstr>
      <vt:lpstr>Systems that act like humans</vt:lpstr>
      <vt:lpstr>Systems that act like humans</vt:lpstr>
      <vt:lpstr>Acting humanly: Turing Test</vt:lpstr>
      <vt:lpstr>Systems that act like humans</vt:lpstr>
      <vt:lpstr>The total Turing Test</vt:lpstr>
      <vt:lpstr>What is Artificial Intelligence ?</vt:lpstr>
      <vt:lpstr>Systems that think like humans:  cognitive modeling</vt:lpstr>
      <vt:lpstr>What is Artificial Intelligence ?</vt:lpstr>
      <vt:lpstr>Systems that think ‘rationally’  "laws of thought"</vt:lpstr>
      <vt:lpstr>What is Artificial Intelligence ?</vt:lpstr>
      <vt:lpstr>Systems that act rationally:  “Rational agent”</vt:lpstr>
      <vt:lpstr>Systems that act rationally</vt:lpstr>
      <vt:lpstr>Systems that act rationally</vt:lpstr>
      <vt:lpstr>Rational agents</vt:lpstr>
      <vt:lpstr>Slide 24</vt:lpstr>
      <vt:lpstr>Slide 25</vt:lpstr>
      <vt:lpstr>Goals of AI</vt:lpstr>
      <vt:lpstr>The Foundation of AI</vt:lpstr>
      <vt:lpstr>The Foundation of AI</vt:lpstr>
      <vt:lpstr>The Foundation of AI</vt:lpstr>
      <vt:lpstr>The Foundation of AI</vt:lpstr>
      <vt:lpstr>The Foundation of AI</vt:lpstr>
      <vt:lpstr>The Foundation of AI</vt:lpstr>
      <vt:lpstr>The main topics in AI</vt:lpstr>
      <vt:lpstr>Slide 34</vt:lpstr>
      <vt:lpstr>The Disadvantages</vt:lpstr>
      <vt:lpstr>Search</vt:lpstr>
      <vt:lpstr>Knowledge Representation &amp; Reasoning</vt:lpstr>
      <vt:lpstr>Slide 38</vt:lpstr>
      <vt:lpstr>Planning</vt:lpstr>
      <vt:lpstr>Learning</vt:lpstr>
      <vt:lpstr>Interacting with the Environment</vt:lpstr>
      <vt:lpstr>History of AI</vt:lpstr>
      <vt:lpstr>History of AI</vt:lpstr>
      <vt:lpstr>Periods in AI</vt:lpstr>
      <vt:lpstr>Periods in AI cont’d</vt:lpstr>
      <vt:lpstr>AI Applications</vt:lpstr>
      <vt:lpstr>AI Applications</vt:lpstr>
      <vt:lpstr>AI Applications</vt:lpstr>
      <vt:lpstr>AI Applications</vt:lpstr>
      <vt:lpstr>AI Applications</vt:lpstr>
      <vt:lpstr>AI Applications</vt:lpstr>
      <vt:lpstr>AI Applications</vt:lpstr>
      <vt:lpstr>AI Applications</vt:lpstr>
      <vt:lpstr>AI Applications</vt:lpstr>
      <vt:lpstr>AI Applications</vt:lpstr>
      <vt:lpstr>AI Applications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Cerdas Artificial Intelligence</dc:title>
  <dc:creator>HP</dc:creator>
  <cp:lastModifiedBy>HP</cp:lastModifiedBy>
  <cp:revision>8</cp:revision>
  <dcterms:created xsi:type="dcterms:W3CDTF">2020-01-29T02:24:22Z</dcterms:created>
  <dcterms:modified xsi:type="dcterms:W3CDTF">2021-02-16T05:43:18Z</dcterms:modified>
</cp:coreProperties>
</file>